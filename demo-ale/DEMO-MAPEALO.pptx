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 deja esta diapositiva mientras saludas (0:00–0:30).
Apertura A-C-A: reconoce algo concreto de ellos ("[dato que sepas]… se nota que Calidad está encima"), y pasa a la siguiente.
Tú hablas el 30 %, ellos el 70 %. Si te oyes explicar Mapealo más de 30 s seguidos,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(0:30–1:30) · Encuadre honesto.
Di: "Te cuento a qué vengo: Mapealo está en su primera versión, montada con una fábrica de calzado de Elche, y ahora la estamos adaptando a lo que necesitan los responsables de calidad. No vengo a venderte nada hoy. Vengo a enseñarte lo que hay y a que me digas qué le sobra y qué le falta. ¿Te parece bien que te haga preguntas y tú me corrijas?"
Por qué: decir la verdad sobre el estado del producto quita presión a los dos y abre la boca del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(1:30–5:00) · Hipótesis 1: ¿el dolor es FORMACIÓN o COMPLIANCE? Apunta literal.
Las 4 preguntas de la pantalla, en ese orden. Si dice "meses" en la 2, es la cifra que vale oro.
Killer questions (si fluye): "¿Qué pasa cuando se va alguien que lleva muchos años?" · "¿Cuánta diferencia de calidad hay entre tu mejor operario y uno nuevo?" · "Si abrieras una segunda planta mañana, ¿cómo trasladarías el conocimiento?"
Etiqueta y silencio: "Parece que eso hoy vive en la cabeza de una persona."
QUÉ ESCUCHAR: auditor / no conformidades / ISO → compliance. Meses / "solo lo sabe Paco" / temporada alta → formación.
Nunca "¿por qué?". Siempre "qué" o "cómo".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3 (5:00–6:00) · El vídeo, SIN HABLAR ENCIMA.
Dale al play (o abre el enlace si el vídeo incrustado no suena en Meet — comparte pantalla con audio). No comentes nada mientras suena.
Al acabar, una sola frase: "Eso es lo que hay hoy. Ahora te enseño el documento real que salió de ahí, y quiero que lo destroces."
Por qué: enseñar lo real, sin adornos. Pedir que lo "destrocen" convierte al cliente en corrector, no en comprador.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(30 s) — solo si hace falta aterrizar lo del vídeo. Si el cliente ya lo ha entendido, sáltala.
Si preguntan "¿esto lo escribe solo?": "Corta el vídeo en pasos, saca la foto de cada uno y lo maqueta solo. El texto lo revisa Calidad antes de aprobarlo — por eso están los amarillos." NO decir "lo hace la IA al 100 %".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(6:00–10:00) · PRIMERO el documento terminado, para que vean a qué se llega. Abre el PDF con el botón y recórrelo. Tras cada parada, una pregunta, no una explicación:
1. Cabecera e historial → "El formato es el suyo, no el nuestro." → "Vuestros documentos, ¿qué llevan que aquí no esté?"
2. Tabla de mandos → "Cada botón, foto y para qué sirve." → "¿Esto os sirve o os sobra?"
3. Un paso con su minuto → "El nuevo ve al compañero hacerlo." → "¿El operario lo consultaría en la máquina, o no?"
QUÉ ES ESTE DOCUMENTO, si lo preguntan: es un EJEMPLO. Mismo formato y mismo proceso que el de la fábrica de Elche, con los campos ya cerrados y datos de ejemplo. Lo pone en el pie del documento. El real, con lo que todavía falta, es el de la diapositiva siguiente.
Si critican: "Tienes razón, ¿qué más?". No defender el documento.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(sigue) · Parada 4: EL AMARILLO. Es el momento que más dice.
Di: "Lo que nadie había dicho en voz alta. No se inventa: queda en amarillo y no se puede aprobar hasta rellenarlo. Aquí salieron 16."
Pregunta: "¿Cuántos crees que saldrían en vuestra [máquina que dijo]?" → SILENCIO. Que se lo imagine él.
Los amarillos son el diagnóstico de que su conocimiento no está escrito. Enseñar el documento con sus huecos es lo que da credibilidad.
Si cuentan y preguntan: los 16 son 14 casillas sombreadas en las cuatro páginas + los 2 huecos de la cabecera (MÁQUINA Nº y UBICACIÓN). De esos, 6 son avisos «DATO PENDIENTE / SIN DEFINIR», que es el número que aparece en la ficha del QR.
La app enseña «8 cosas que faltan» de SU propio manual del cortado, que es otro juego de datos: si lo preguntan, se dice tal cual.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(sigue) · Parada 5: EL QR y DÓNDE VIVE. Navega en directo con él:
· "Lo que abre el QR" → la página del móvil (manual + vídeo). Pregunta: "¿Se lo pegaríais? ¿Qué diría Planta?"
· "Abrir la app" → el repositorio: MIS MANUALES, el manual del cortado, DESCARGAR EL PDF, VOLCAR A EXCEL, QR PARA PEGAR EN LA MÁQUINA.
· "Índice" → la web con los tres manuales de Elche.
Si preguntan dónde están los datos: "Se quedan en vuestro repositorio; el QR apunta ahí. ¿Dónde os haría falta que estuvieran?" NO prometer servidores, cuentas ni app en tienda.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BLOQUES 4 y 5 (hasta 12:30) · Hipótesis 2, 3 y 4.
La pregunta que abre todo (nº 1) → SILENCIO LARGO. Anota cada cosa: "un ítem es la razón por la que alguien no compra".
Quién decide y quién paga (NO se vende, se pregunta): "Algo así, si algún día lo quisierais, ¿de dónde saldría: de Calidad, de Formación, de Producción?" · "¿Y quién tendría que decir que sí, además de ti?" · "Si un operario nuevo tardara la mitad en ir solo, ¿eso qué os supone?" · "¿Cuántas máquinas o líneas distintas tenéis? ¿Cuánta gente entra al año?"
QUÉ ESCUCHAR: si pregunta PRECIO sin que se lo ofrezcas, apunta QUIÉN lo pregunta (Calidad o Industrial): es el dato que más vale. Si nadie pregunta precio, también es un dato.
Si preguntan precio: "Todavía no lo hemos cerrado: depende de conversaciones como esta. Si tuviera que ser por algo, ¿por máquina, por planta o por persona te encajaría más?" Nunca un número inventado.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6 (12:30–15:00) · El regalo a cambio de más feedback. NO es una venta.
Di: "Te propongo esto, si te sirve. Os hacemos gratis el manual de esa máquina que me has dicho. Un operario graba 3 minutos con el móvil siguiendo cuatro frases; os lo devolvemos en vuestro formato en menos de una semana. Sin compromiso. A cambio solo te pido lo mismo que hoy: que lo uséis con alguien nuevo, que me digáis qué está mal, y que si os parece bueno me dejéis contarlo con vuestro nombre. ¿Te parece justo?"
Si pone pega a la tercera: "Perfecto, sin nombre entonces. Las otras dos sí."
A o B, nunca "¿lo hacemos?": "¿Grabamos [máquina 1] o [máquina 2]?"
Cita antes de colgar: "¿Cuándo puede grabar el operario, [día] o [día]? Y quedamos el [fecha + 7] a esta hora, 15 minutos, para ver el manual juntos y que lo vuelvas a destrozar. ¿Hay algo que pudiera hacer que se cayera?"
Última pregunta, siempre: "Si tuvieras que decirle a un colega de otra fábrica qué es esto en una frase, ¿qué le dirías?"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Antes de colgar comprueba: (1) máquina elegida, (2) fecha en la que graba el operario, (3) próxima cita fijada, (4) su frase "se lo diría a un colega así".
Nada más colgar: rellena la ficha de captura (GUIA-INTERNA-DEMO.pdf, última página). Una por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6" Type="http://schemas.openxmlformats.org/officeDocument/2006/relationships/hyperlink" Target="https://l1yac.github.io/mapealo/video/" TargetMode="External"/><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video" Target="../media/media-4-3.mp4"/><Relationship Id="rId4" Type="http://schemas.microsoft.com/office/2007/relationships/media" Target="../media/media-4-3.mp4"/><Relationship Id="rId5" Type="http://schemas.openxmlformats.org/officeDocument/2006/relationships/image" Target="../media/image-4-5.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hyperlink" Target="https://l1yac.github.io/mapealo/demo-ale/ejemplo-documento-terminado.pdf"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hyperlink" Target="https://l1yac.github.io/mapealo/m/cortado/manual.pdf"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hyperlink" Target="https://l1yac.github.io/mapealo/m/cortado/" TargetMode="External"/><Relationship Id="rId6" Type="http://schemas.openxmlformats.org/officeDocument/2006/relationships/hyperlink" Target="https://l1yac.github.io/mapealo/app/" TargetMode="External"/><Relationship Id="rId7" Type="http://schemas.openxmlformats.org/officeDocument/2006/relationships/hyperlink" Target="https://l1yac.github.io/mapealo/" TargetMode="Externa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mailto:alejandro@mapealoprocesos.com" TargetMode="External"/><Relationship Id="rId4" Type="http://schemas.openxmlformats.org/officeDocument/2006/relationships/hyperlink" Target="https://l1yac.github.io/mapealo/video/" TargetMode="External"/><Relationship Id="rId5" Type="http://schemas.openxmlformats.org/officeDocument/2006/relationships/hyperlink" Target="https://l1yac.github.io/mapealo/m/cortado/manual.pdf" TargetMode="External"/><Relationship Id="rId6" Type="http://schemas.openxmlformats.org/officeDocument/2006/relationships/hyperlink" Target="https://l1yac.github.io/mapealo/app/" TargetMode="External"/><Relationship Id="rId1" Type="http://schemas.openxmlformats.org/officeDocument/2006/relationships/image" Target="../media/Slide-11-image-1.png"/><Relationship Id="rId2" Type="http://schemas.openxmlformats.org/officeDocument/2006/relationships/image" Target="../media/image-11-2.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liamperezliberman/saas industrial/marca/logo-blanco.png">    </p:cNvPr>
          <p:cNvPicPr>
            <a:picLocks noChangeAspect="1"/>
          </p:cNvPicPr>
          <p:nvPr/>
        </p:nvPicPr>
        <p:blipFill>
          <a:blip r:embed="rId2"/>
          <a:stretch>
            <a:fillRect/>
          </a:stretch>
        </p:blipFill>
        <p:spPr>
          <a:xfrm>
            <a:off x="640080" y="960120"/>
            <a:ext cx="1631937" cy="914400"/>
          </a:xfrm>
          <a:prstGeom prst="rect">
            <a:avLst/>
          </a:prstGeom>
        </p:spPr>
      </p:pic>
      <p:sp>
        <p:nvSpPr>
          <p:cNvPr id="3" name="Text 0"/>
          <p:cNvSpPr txBox="1"/>
          <p:nvPr/>
        </p:nvSpPr>
        <p:spPr>
          <a:xfrm>
            <a:off x="640080" y="2103120"/>
            <a:ext cx="7863840" cy="128016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La instrucción de trabajo de cada máquina,</a:t>
            </a:r>
            <a:endParaRPr lang="en-US" sz="3000" dirty="0"/>
          </a:p>
          <a:p>
            <a:pPr indent="0" marL="0">
              <a:buNone/>
            </a:pPr>
            <a:r>
              <a:rPr lang="en-US" sz="3000" b="1" dirty="0">
                <a:solidFill>
                  <a:srgbClr val="FFFFFF"/>
                </a:solidFill>
                <a:latin typeface="Arial" pitchFamily="34" charset="0"/>
                <a:ea typeface="Arial" pitchFamily="34" charset="-122"/>
                <a:cs typeface="Arial" pitchFamily="34" charset="-120"/>
              </a:rPr>
              <a:t>a partir de un vídeo del operario.</a:t>
            </a:r>
            <a:endParaRPr lang="en-US" sz="3000" dirty="0"/>
          </a:p>
        </p:txBody>
      </p:sp>
      <p:sp>
        <p:nvSpPr>
          <p:cNvPr id="4" name="Text 1"/>
          <p:cNvSpPr txBox="1"/>
          <p:nvPr/>
        </p:nvSpPr>
        <p:spPr>
          <a:xfrm>
            <a:off x="640080" y="3429000"/>
            <a:ext cx="7863840" cy="365760"/>
          </a:xfrm>
          <a:prstGeom prst="rect">
            <a:avLst/>
          </a:prstGeom>
          <a:noFill/>
          <a:ln/>
        </p:spPr>
        <p:txBody>
          <a:bodyPr wrap="square" lIns="0" tIns="0" rIns="0" bIns="0" rtlCol="0" anchor="ctr"/>
          <a:lstStyle/>
          <a:p>
            <a:pPr indent="0" marL="0">
              <a:buNone/>
            </a:pPr>
            <a:r>
              <a:rPr lang="en-US" sz="1400" dirty="0">
                <a:solidFill>
                  <a:srgbClr val="E4E4FA"/>
                </a:solidFill>
                <a:latin typeface="Arial" pitchFamily="34" charset="0"/>
                <a:ea typeface="Arial" pitchFamily="34" charset="-122"/>
                <a:cs typeface="Arial" pitchFamily="34" charset="-120"/>
              </a:rPr>
              <a:t>En vuestro formato · con el minuto exacto del vídeo · con lo que falta marcado en amarillo</a:t>
            </a:r>
            <a:endParaRPr lang="en-US" sz="1400" dirty="0"/>
          </a:p>
        </p:txBody>
      </p:sp>
      <p:sp>
        <p:nvSpPr>
          <p:cNvPr id="5" name="Text 2"/>
          <p:cNvSpPr txBox="1"/>
          <p:nvPr/>
        </p:nvSpPr>
        <p:spPr>
          <a:xfrm>
            <a:off x="640080" y="4343400"/>
            <a:ext cx="7863840" cy="320040"/>
          </a:xfrm>
          <a:prstGeom prst="rect">
            <a:avLst/>
          </a:prstGeom>
          <a:noFill/>
          <a:ln/>
        </p:spPr>
        <p:txBody>
          <a:bodyPr wrap="square" lIns="0" tIns="0" rIns="0" bIns="0" rtlCol="0" anchor="ctr"/>
          <a:lstStyle/>
          <a:p>
            <a:pPr indent="0" marL="0">
              <a:buNone/>
            </a:pPr>
            <a:r>
              <a:rPr lang="en-US" sz="1200" dirty="0">
                <a:solidFill>
                  <a:srgbClr val="CFCFEA"/>
                </a:solidFill>
                <a:latin typeface="Arial" pitchFamily="34" charset="0"/>
                <a:ea typeface="Arial" pitchFamily="34" charset="-122"/>
                <a:cs typeface="Arial" pitchFamily="34" charset="-120"/>
              </a:rPr>
              <a:t>Demo · 15 minutos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Users/liamperezliberman/saas industrial/marca/logo-color.png">    </p:cNvPr>
          <p:cNvPicPr>
            <a:picLocks noChangeAspect="1"/>
          </p:cNvPicPr>
          <p:nvPr/>
        </p:nvPicPr>
        <p:blipFill>
          <a:blip r:embed="rId1"/>
          <a:stretch>
            <a:fillRect/>
          </a:stretch>
        </p:blipFill>
        <p:spPr>
          <a:xfrm>
            <a:off x="457200" y="292608"/>
            <a:ext cx="685414" cy="384048"/>
          </a:xfrm>
          <a:prstGeom prst="rect">
            <a:avLst/>
          </a:prstGeom>
        </p:spPr>
      </p:pic>
      <p:sp>
        <p:nvSpPr>
          <p:cNvPr id="3" name="Text 0"/>
          <p:cNvSpPr txBox="1"/>
          <p:nvPr/>
        </p:nvSpPr>
        <p:spPr>
          <a:xfrm>
            <a:off x="457200" y="777240"/>
            <a:ext cx="8229600" cy="640080"/>
          </a:xfrm>
          <a:prstGeom prst="rect">
            <a:avLst/>
          </a:prstGeom>
          <a:noFill/>
          <a:ln/>
        </p:spPr>
        <p:txBody>
          <a:bodyPr wrap="square" lIns="0" tIns="0" rIns="0" bIns="0" rtlCol="0" anchor="t"/>
          <a:lstStyle/>
          <a:p>
            <a:pPr indent="0" marL="0">
              <a:buNone/>
            </a:pPr>
            <a:r>
              <a:rPr lang="en-US" sz="3000" b="1" dirty="0">
                <a:solidFill>
                  <a:srgbClr val="0B0B33"/>
                </a:solidFill>
                <a:latin typeface="Arial" pitchFamily="34" charset="0"/>
                <a:ea typeface="Arial" pitchFamily="34" charset="-122"/>
                <a:cs typeface="Arial" pitchFamily="34" charset="-120"/>
              </a:rPr>
              <a:t>A qué venimos hoy</a:t>
            </a:r>
            <a:endParaRPr lang="en-US" sz="3000" dirty="0"/>
          </a:p>
        </p:txBody>
      </p:sp>
      <p:sp>
        <p:nvSpPr>
          <p:cNvPr id="4" name="Text 1"/>
          <p:cNvSpPr txBox="1"/>
          <p:nvPr/>
        </p:nvSpPr>
        <p:spPr>
          <a:xfrm>
            <a:off x="457200" y="1371600"/>
            <a:ext cx="8229600" cy="365760"/>
          </a:xfrm>
          <a:prstGeom prst="rect">
            <a:avLst/>
          </a:prstGeom>
          <a:noFill/>
          <a:ln/>
        </p:spPr>
        <p:txBody>
          <a:bodyPr wrap="square" lIns="0" tIns="0" rIns="0" bIns="0" rtlCol="0" anchor="t"/>
          <a:lstStyle/>
          <a:p>
            <a:pPr indent="0" marL="0">
              <a:buNone/>
            </a:pPr>
            <a:r>
              <a:rPr lang="en-US" sz="1400" dirty="0">
                <a:solidFill>
                  <a:srgbClr val="5A5F7D"/>
                </a:solidFill>
                <a:latin typeface="Arial" pitchFamily="34" charset="0"/>
                <a:ea typeface="Arial" pitchFamily="34" charset="-122"/>
                <a:cs typeface="Arial" pitchFamily="34" charset="-120"/>
              </a:rPr>
              <a:t>Mapealo está en su primera versión, montada con una fábrica de calzado de Elche. Hoy no venimos a vender: venimos a enseñar lo que hay y a que nos digáis qué le sobra y qué le falta.</a:t>
            </a:r>
            <a:endParaRPr lang="en-US" sz="1400" dirty="0"/>
          </a:p>
        </p:txBody>
      </p:sp>
      <p:sp>
        <p:nvSpPr>
          <p:cNvPr id="5" name="Shape 2"/>
          <p:cNvSpPr/>
          <p:nvPr/>
        </p:nvSpPr>
        <p:spPr>
          <a:xfrm>
            <a:off x="457200" y="2148840"/>
            <a:ext cx="2560320" cy="2057400"/>
          </a:xfrm>
          <a:prstGeom prst="roundRect">
            <a:avLst>
              <a:gd name="adj" fmla="val 5333"/>
            </a:avLst>
          </a:prstGeom>
          <a:solidFill>
            <a:srgbClr val="F1F1F8"/>
          </a:solidFill>
          <a:ln w="9525">
            <a:solidFill>
              <a:srgbClr val="D8D8E6"/>
            </a:solidFill>
            <a:prstDash val="solid"/>
          </a:ln>
        </p:spPr>
      </p:sp>
      <p:sp>
        <p:nvSpPr>
          <p:cNvPr id="6" name="Shape 3"/>
          <p:cNvSpPr/>
          <p:nvPr/>
        </p:nvSpPr>
        <p:spPr>
          <a:xfrm>
            <a:off x="685800" y="2377440"/>
            <a:ext cx="420624" cy="420624"/>
          </a:xfrm>
          <a:prstGeom prst="ellipse">
            <a:avLst/>
          </a:prstGeom>
          <a:solidFill>
            <a:srgbClr val="2A66DB"/>
          </a:solidFill>
          <a:ln w="12700">
            <a:solidFill>
              <a:srgbClr val="2A66DB"/>
            </a:solidFill>
            <a:prstDash val="solid"/>
          </a:ln>
        </p:spPr>
      </p:sp>
      <p:sp>
        <p:nvSpPr>
          <p:cNvPr id="7" name="Text 4"/>
          <p:cNvSpPr txBox="1"/>
          <p:nvPr/>
        </p:nvSpPr>
        <p:spPr>
          <a:xfrm>
            <a:off x="685800" y="23774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685800" y="2926080"/>
            <a:ext cx="2103120" cy="365760"/>
          </a:xfrm>
          <a:prstGeom prst="rect">
            <a:avLst/>
          </a:prstGeom>
          <a:noFill/>
          <a:ln/>
        </p:spPr>
        <p:txBody>
          <a:bodyPr wrap="square" lIns="0" tIns="0" rIns="0" bIns="0" rtlCol="0" anchor="ctr"/>
          <a:lstStyle/>
          <a:p>
            <a:pPr indent="0" marL="0">
              <a:buNone/>
            </a:pPr>
            <a:r>
              <a:rPr lang="en-US" sz="1500" b="1" dirty="0">
                <a:solidFill>
                  <a:srgbClr val="0B0B33"/>
                </a:solidFill>
                <a:latin typeface="Arial" pitchFamily="34" charset="0"/>
                <a:ea typeface="Arial" pitchFamily="34" charset="-122"/>
                <a:cs typeface="Arial" pitchFamily="34" charset="-120"/>
              </a:rPr>
              <a:t>Cómo lo hacéis hoy</a:t>
            </a:r>
            <a:endParaRPr lang="en-US" sz="1500" dirty="0"/>
          </a:p>
        </p:txBody>
      </p:sp>
      <p:sp>
        <p:nvSpPr>
          <p:cNvPr id="9" name="Text 6"/>
          <p:cNvSpPr txBox="1"/>
          <p:nvPr/>
        </p:nvSpPr>
        <p:spPr>
          <a:xfrm>
            <a:off x="685800" y="3319272"/>
            <a:ext cx="2103120" cy="777240"/>
          </a:xfrm>
          <a:prstGeom prst="rect">
            <a:avLst/>
          </a:prstGeom>
          <a:noFill/>
          <a:ln/>
        </p:spPr>
        <p:txBody>
          <a:bodyPr wrap="square" lIns="0" tIns="0" rIns="0" bIns="0" rtlCol="0" anchor="t"/>
          <a:lstStyle/>
          <a:p>
            <a:pPr indent="0" marL="0">
              <a:buNone/>
            </a:pPr>
            <a:r>
              <a:rPr lang="en-US" sz="1200" dirty="0">
                <a:solidFill>
                  <a:srgbClr val="5A5F7D"/>
                </a:solidFill>
                <a:latin typeface="Arial" pitchFamily="34" charset="0"/>
                <a:ea typeface="Arial" pitchFamily="34" charset="-122"/>
                <a:cs typeface="Arial" pitchFamily="34" charset="-120"/>
              </a:rPr>
              <a:t>Cómo aprende una máquina alguien nuevo, cuánto tarda y qué hay escrito.</a:t>
            </a:r>
            <a:endParaRPr lang="en-US" sz="1200" dirty="0"/>
          </a:p>
        </p:txBody>
      </p:sp>
      <p:sp>
        <p:nvSpPr>
          <p:cNvPr id="10" name="Shape 7"/>
          <p:cNvSpPr/>
          <p:nvPr/>
        </p:nvSpPr>
        <p:spPr>
          <a:xfrm>
            <a:off x="3291840" y="2148840"/>
            <a:ext cx="2560320" cy="2057400"/>
          </a:xfrm>
          <a:prstGeom prst="roundRect">
            <a:avLst>
              <a:gd name="adj" fmla="val 5333"/>
            </a:avLst>
          </a:prstGeom>
          <a:solidFill>
            <a:srgbClr val="F1F1F8"/>
          </a:solidFill>
          <a:ln w="9525">
            <a:solidFill>
              <a:srgbClr val="D8D8E6"/>
            </a:solidFill>
            <a:prstDash val="solid"/>
          </a:ln>
        </p:spPr>
      </p:sp>
      <p:sp>
        <p:nvSpPr>
          <p:cNvPr id="11" name="Shape 8"/>
          <p:cNvSpPr/>
          <p:nvPr/>
        </p:nvSpPr>
        <p:spPr>
          <a:xfrm>
            <a:off x="3520440" y="2377440"/>
            <a:ext cx="420624" cy="420624"/>
          </a:xfrm>
          <a:prstGeom prst="ellipse">
            <a:avLst/>
          </a:prstGeom>
          <a:solidFill>
            <a:srgbClr val="2A66DB"/>
          </a:solidFill>
          <a:ln w="12700">
            <a:solidFill>
              <a:srgbClr val="2A66DB"/>
            </a:solidFill>
            <a:prstDash val="solid"/>
          </a:ln>
        </p:spPr>
      </p:sp>
      <p:sp>
        <p:nvSpPr>
          <p:cNvPr id="12" name="Text 9"/>
          <p:cNvSpPr txBox="1"/>
          <p:nvPr/>
        </p:nvSpPr>
        <p:spPr>
          <a:xfrm>
            <a:off x="3520440" y="23774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3520440" y="2926080"/>
            <a:ext cx="2103120" cy="365760"/>
          </a:xfrm>
          <a:prstGeom prst="rect">
            <a:avLst/>
          </a:prstGeom>
          <a:noFill/>
          <a:ln/>
        </p:spPr>
        <p:txBody>
          <a:bodyPr wrap="square" lIns="0" tIns="0" rIns="0" bIns="0" rtlCol="0" anchor="ctr"/>
          <a:lstStyle/>
          <a:p>
            <a:pPr indent="0" marL="0">
              <a:buNone/>
            </a:pPr>
            <a:r>
              <a:rPr lang="en-US" sz="1500" b="1" dirty="0">
                <a:solidFill>
                  <a:srgbClr val="0B0B33"/>
                </a:solidFill>
                <a:latin typeface="Arial" pitchFamily="34" charset="0"/>
                <a:ea typeface="Arial" pitchFamily="34" charset="-122"/>
                <a:cs typeface="Arial" pitchFamily="34" charset="-120"/>
              </a:rPr>
              <a:t>Lo que hay</a:t>
            </a:r>
            <a:endParaRPr lang="en-US" sz="1500" dirty="0"/>
          </a:p>
        </p:txBody>
      </p:sp>
      <p:sp>
        <p:nvSpPr>
          <p:cNvPr id="14" name="Text 11"/>
          <p:cNvSpPr txBox="1"/>
          <p:nvPr/>
        </p:nvSpPr>
        <p:spPr>
          <a:xfrm>
            <a:off x="3520440" y="3319272"/>
            <a:ext cx="2103120" cy="777240"/>
          </a:xfrm>
          <a:prstGeom prst="rect">
            <a:avLst/>
          </a:prstGeom>
          <a:noFill/>
          <a:ln/>
        </p:spPr>
        <p:txBody>
          <a:bodyPr wrap="square" lIns="0" tIns="0" rIns="0" bIns="0" rtlCol="0" anchor="t"/>
          <a:lstStyle/>
          <a:p>
            <a:pPr indent="0" marL="0">
              <a:buNone/>
            </a:pPr>
            <a:r>
              <a:rPr lang="en-US" sz="1200" dirty="0">
                <a:solidFill>
                  <a:srgbClr val="5A5F7D"/>
                </a:solidFill>
                <a:latin typeface="Arial" pitchFamily="34" charset="0"/>
                <a:ea typeface="Arial" pitchFamily="34" charset="-122"/>
                <a:cs typeface="Arial" pitchFamily="34" charset="-120"/>
              </a:rPr>
              <a:t>Un vídeo de 47 s, el documento real que salió de él y dónde queda guardado.</a:t>
            </a:r>
            <a:endParaRPr lang="en-US" sz="1200" dirty="0"/>
          </a:p>
        </p:txBody>
      </p:sp>
      <p:sp>
        <p:nvSpPr>
          <p:cNvPr id="15" name="Shape 12"/>
          <p:cNvSpPr/>
          <p:nvPr/>
        </p:nvSpPr>
        <p:spPr>
          <a:xfrm>
            <a:off x="6126480" y="2148840"/>
            <a:ext cx="2560320" cy="2057400"/>
          </a:xfrm>
          <a:prstGeom prst="roundRect">
            <a:avLst>
              <a:gd name="adj" fmla="val 5333"/>
            </a:avLst>
          </a:prstGeom>
          <a:solidFill>
            <a:srgbClr val="F1F1F8"/>
          </a:solidFill>
          <a:ln w="9525">
            <a:solidFill>
              <a:srgbClr val="D8D8E6"/>
            </a:solidFill>
            <a:prstDash val="solid"/>
          </a:ln>
        </p:spPr>
      </p:sp>
      <p:sp>
        <p:nvSpPr>
          <p:cNvPr id="16" name="Shape 13"/>
          <p:cNvSpPr/>
          <p:nvPr/>
        </p:nvSpPr>
        <p:spPr>
          <a:xfrm>
            <a:off x="6355080" y="2377440"/>
            <a:ext cx="420624" cy="420624"/>
          </a:xfrm>
          <a:prstGeom prst="ellipse">
            <a:avLst/>
          </a:prstGeom>
          <a:solidFill>
            <a:srgbClr val="2A66DB"/>
          </a:solidFill>
          <a:ln w="12700">
            <a:solidFill>
              <a:srgbClr val="2A66DB"/>
            </a:solidFill>
            <a:prstDash val="solid"/>
          </a:ln>
        </p:spPr>
      </p:sp>
      <p:sp>
        <p:nvSpPr>
          <p:cNvPr id="17" name="Text 14"/>
          <p:cNvSpPr txBox="1"/>
          <p:nvPr/>
        </p:nvSpPr>
        <p:spPr>
          <a:xfrm>
            <a:off x="6355080" y="23774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6355080" y="2926080"/>
            <a:ext cx="2103120" cy="365760"/>
          </a:xfrm>
          <a:prstGeom prst="rect">
            <a:avLst/>
          </a:prstGeom>
          <a:noFill/>
          <a:ln/>
        </p:spPr>
        <p:txBody>
          <a:bodyPr wrap="square" lIns="0" tIns="0" rIns="0" bIns="0" rtlCol="0" anchor="ctr"/>
          <a:lstStyle/>
          <a:p>
            <a:pPr indent="0" marL="0">
              <a:buNone/>
            </a:pPr>
            <a:r>
              <a:rPr lang="en-US" sz="1500" b="1" dirty="0">
                <a:solidFill>
                  <a:srgbClr val="0B0B33"/>
                </a:solidFill>
                <a:latin typeface="Arial" pitchFamily="34" charset="0"/>
                <a:ea typeface="Arial" pitchFamily="34" charset="-122"/>
                <a:cs typeface="Arial" pitchFamily="34" charset="-120"/>
              </a:rPr>
              <a:t>Qué le falta</a:t>
            </a:r>
            <a:endParaRPr lang="en-US" sz="1500" dirty="0"/>
          </a:p>
        </p:txBody>
      </p:sp>
      <p:sp>
        <p:nvSpPr>
          <p:cNvPr id="19" name="Text 16"/>
          <p:cNvSpPr txBox="1"/>
          <p:nvPr/>
        </p:nvSpPr>
        <p:spPr>
          <a:xfrm>
            <a:off x="6355080" y="3319272"/>
            <a:ext cx="2103120" cy="777240"/>
          </a:xfrm>
          <a:prstGeom prst="rect">
            <a:avLst/>
          </a:prstGeom>
          <a:noFill/>
          <a:ln/>
        </p:spPr>
        <p:txBody>
          <a:bodyPr wrap="square" lIns="0" tIns="0" rIns="0" bIns="0" rtlCol="0" anchor="t"/>
          <a:lstStyle/>
          <a:p>
            <a:pPr indent="0" marL="0">
              <a:buNone/>
            </a:pPr>
            <a:r>
              <a:rPr lang="en-US" sz="1200" dirty="0">
                <a:solidFill>
                  <a:srgbClr val="5A5F7D"/>
                </a:solidFill>
                <a:latin typeface="Arial" pitchFamily="34" charset="0"/>
                <a:ea typeface="Arial" pitchFamily="34" charset="-122"/>
                <a:cs typeface="Arial" pitchFamily="34" charset="-120"/>
              </a:rPr>
              <a:t>Qué tendría que tener para entrar en vuestro sistema. Y el siguiente paso, si os sirve.</a:t>
            </a:r>
            <a:endParaRPr lang="en-US" sz="1200" dirty="0"/>
          </a:p>
        </p:txBody>
      </p:sp>
      <p:sp>
        <p:nvSpPr>
          <p:cNvPr id="20" name="Text 17"/>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50" dirty="0">
                <a:solidFill>
                  <a:srgbClr val="5A5F7D"/>
                </a:solidFill>
                <a:latin typeface="Arial" pitchFamily="34" charset="0"/>
                <a:ea typeface="Arial" pitchFamily="34" charset="-122"/>
                <a:cs typeface="Arial" pitchFamily="34" charset="-120"/>
              </a:rPr>
              <a:t>Regla de la reunión: vosotros habláis más que nosotros. Corregidnos todo lo que queráis.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Users/liamperezliberman/saas industrial/marca/logo-color.png">    </p:cNvPr>
          <p:cNvPicPr>
            <a:picLocks noChangeAspect="1"/>
          </p:cNvPicPr>
          <p:nvPr/>
        </p:nvPicPr>
        <p:blipFill>
          <a:blip r:embed="rId1"/>
          <a:stretch>
            <a:fillRect/>
          </a:stretch>
        </p:blipFill>
        <p:spPr>
          <a:xfrm>
            <a:off x="457200" y="292608"/>
            <a:ext cx="685414" cy="384048"/>
          </a:xfrm>
          <a:prstGeom prst="rect">
            <a:avLst/>
          </a:prstGeom>
        </p:spPr>
      </p:pic>
      <p:sp>
        <p:nvSpPr>
          <p:cNvPr id="3" name="Text 0"/>
          <p:cNvSpPr txBox="1"/>
          <p:nvPr/>
        </p:nvSpPr>
        <p:spPr>
          <a:xfrm>
            <a:off x="457200" y="777240"/>
            <a:ext cx="8229600" cy="640080"/>
          </a:xfrm>
          <a:prstGeom prst="rect">
            <a:avLst/>
          </a:prstGeom>
          <a:noFill/>
          <a:ln/>
        </p:spPr>
        <p:txBody>
          <a:bodyPr wrap="square" lIns="0" tIns="0" rIns="0" bIns="0" rtlCol="0" anchor="t"/>
          <a:lstStyle/>
          <a:p>
            <a:pPr indent="0" marL="0">
              <a:buNone/>
            </a:pPr>
            <a:r>
              <a:rPr lang="en-US" sz="3000" b="1" dirty="0">
                <a:solidFill>
                  <a:srgbClr val="0B0B33"/>
                </a:solidFill>
                <a:latin typeface="Arial" pitchFamily="34" charset="0"/>
                <a:ea typeface="Arial" pitchFamily="34" charset="-122"/>
                <a:cs typeface="Arial" pitchFamily="34" charset="-120"/>
              </a:rPr>
              <a:t>Cómo lo hacéis hoy</a:t>
            </a:r>
            <a:endParaRPr lang="en-US" sz="3000" dirty="0"/>
          </a:p>
        </p:txBody>
      </p:sp>
      <p:sp>
        <p:nvSpPr>
          <p:cNvPr id="4" name="Text 1"/>
          <p:cNvSpPr txBox="1"/>
          <p:nvPr/>
        </p:nvSpPr>
        <p:spPr>
          <a:xfrm>
            <a:off x="457200" y="1371600"/>
            <a:ext cx="8229600" cy="365760"/>
          </a:xfrm>
          <a:prstGeom prst="rect">
            <a:avLst/>
          </a:prstGeom>
          <a:noFill/>
          <a:ln/>
        </p:spPr>
        <p:txBody>
          <a:bodyPr wrap="square" lIns="0" tIns="0" rIns="0" bIns="0" rtlCol="0" anchor="t"/>
          <a:lstStyle/>
          <a:p>
            <a:pPr indent="0" marL="0">
              <a:buNone/>
            </a:pPr>
            <a:r>
              <a:rPr lang="en-US" sz="1400" dirty="0">
                <a:solidFill>
                  <a:srgbClr val="5A5F7D"/>
                </a:solidFill>
                <a:latin typeface="Arial" pitchFamily="34" charset="0"/>
                <a:ea typeface="Arial" pitchFamily="34" charset="-122"/>
                <a:cs typeface="Arial" pitchFamily="34" charset="-120"/>
              </a:rPr>
              <a:t>Antes de enseñar nada, queremos entender vuestra planta. Cuatro preguntas.</a:t>
            </a:r>
            <a:endParaRPr lang="en-US" sz="1400" dirty="0"/>
          </a:p>
        </p:txBody>
      </p:sp>
      <p:sp>
        <p:nvSpPr>
          <p:cNvPr id="5" name="Shape 2"/>
          <p:cNvSpPr/>
          <p:nvPr/>
        </p:nvSpPr>
        <p:spPr>
          <a:xfrm>
            <a:off x="457200" y="1965960"/>
            <a:ext cx="3977640" cy="1143000"/>
          </a:xfrm>
          <a:prstGeom prst="roundRect">
            <a:avLst>
              <a:gd name="adj" fmla="val 9600"/>
            </a:avLst>
          </a:prstGeom>
          <a:solidFill>
            <a:srgbClr val="F2F0FE"/>
          </a:solidFill>
          <a:ln w="9525">
            <a:solidFill>
              <a:srgbClr val="D8D8E6"/>
            </a:solidFill>
            <a:prstDash val="solid"/>
          </a:ln>
        </p:spPr>
      </p:sp>
      <p:sp>
        <p:nvSpPr>
          <p:cNvPr id="6" name="Shape 3"/>
          <p:cNvSpPr/>
          <p:nvPr/>
        </p:nvSpPr>
        <p:spPr>
          <a:xfrm>
            <a:off x="658368" y="2167128"/>
            <a:ext cx="365760" cy="365760"/>
          </a:xfrm>
          <a:prstGeom prst="ellipse">
            <a:avLst/>
          </a:prstGeom>
          <a:solidFill>
            <a:srgbClr val="6633E0"/>
          </a:solidFill>
          <a:ln w="12700">
            <a:solidFill>
              <a:srgbClr val="6633E0"/>
            </a:solidFill>
            <a:prstDash val="solid"/>
          </a:ln>
        </p:spPr>
      </p:sp>
      <p:sp>
        <p:nvSpPr>
          <p:cNvPr id="7" name="Text 4"/>
          <p:cNvSpPr txBox="1"/>
          <p:nvPr/>
        </p:nvSpPr>
        <p:spPr>
          <a:xfrm>
            <a:off x="658368" y="21671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txBox="1"/>
          <p:nvPr/>
        </p:nvSpPr>
        <p:spPr>
          <a:xfrm>
            <a:off x="1188720" y="2103120"/>
            <a:ext cx="3063240" cy="868680"/>
          </a:xfrm>
          <a:prstGeom prst="rect">
            <a:avLst/>
          </a:prstGeom>
          <a:noFill/>
          <a:ln/>
        </p:spPr>
        <p:txBody>
          <a:bodyPr wrap="square" lIns="0" tIns="0" rIns="0" bIns="0" rtlCol="0" anchor="ctr"/>
          <a:lstStyle/>
          <a:p>
            <a:pPr indent="0" marL="0">
              <a:buNone/>
            </a:pPr>
            <a:r>
              <a:rPr lang="en-US" sz="1200" dirty="0">
                <a:solidFill>
                  <a:srgbClr val="5A5F7D"/>
                </a:solidFill>
                <a:latin typeface="Arial" pitchFamily="34" charset="0"/>
                <a:ea typeface="Arial" pitchFamily="34" charset="-122"/>
                <a:cs typeface="Arial" pitchFamily="34" charset="-120"/>
              </a:rPr>
              <a:t>Cuando entra alguien nuevo en planta, </a:t>
            </a:r>
            <a:pPr indent="0" marL="0">
              <a:buNone/>
            </a:pPr>
            <a:r>
              <a:rPr lang="en-US" sz="1500" b="1" dirty="0">
                <a:solidFill>
                  <a:srgbClr val="0B0B33"/>
                </a:solidFill>
                <a:latin typeface="Arial" pitchFamily="34" charset="0"/>
                <a:ea typeface="Arial" pitchFamily="34" charset="-122"/>
                <a:cs typeface="Arial" pitchFamily="34" charset="-120"/>
              </a:rPr>
              <a:t>¿cómo aprende una máquina hoy?</a:t>
            </a:r>
            <a:endParaRPr lang="en-US" sz="1200" dirty="0"/>
          </a:p>
        </p:txBody>
      </p:sp>
      <p:sp>
        <p:nvSpPr>
          <p:cNvPr id="9" name="Shape 6"/>
          <p:cNvSpPr/>
          <p:nvPr/>
        </p:nvSpPr>
        <p:spPr>
          <a:xfrm>
            <a:off x="4709160" y="1965960"/>
            <a:ext cx="3977640" cy="1143000"/>
          </a:xfrm>
          <a:prstGeom prst="roundRect">
            <a:avLst>
              <a:gd name="adj" fmla="val 9600"/>
            </a:avLst>
          </a:prstGeom>
          <a:solidFill>
            <a:srgbClr val="F2F0FE"/>
          </a:solidFill>
          <a:ln w="9525">
            <a:solidFill>
              <a:srgbClr val="D8D8E6"/>
            </a:solidFill>
            <a:prstDash val="solid"/>
          </a:ln>
        </p:spPr>
      </p:sp>
      <p:sp>
        <p:nvSpPr>
          <p:cNvPr id="10" name="Shape 7"/>
          <p:cNvSpPr/>
          <p:nvPr/>
        </p:nvSpPr>
        <p:spPr>
          <a:xfrm>
            <a:off x="4910328" y="2167128"/>
            <a:ext cx="365760" cy="365760"/>
          </a:xfrm>
          <a:prstGeom prst="ellipse">
            <a:avLst/>
          </a:prstGeom>
          <a:solidFill>
            <a:srgbClr val="6633E0"/>
          </a:solidFill>
          <a:ln w="12700">
            <a:solidFill>
              <a:srgbClr val="6633E0"/>
            </a:solidFill>
            <a:prstDash val="solid"/>
          </a:ln>
        </p:spPr>
      </p:sp>
      <p:sp>
        <p:nvSpPr>
          <p:cNvPr id="11" name="Text 8"/>
          <p:cNvSpPr txBox="1"/>
          <p:nvPr/>
        </p:nvSpPr>
        <p:spPr>
          <a:xfrm>
            <a:off x="4910328" y="21671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9"/>
          <p:cNvSpPr txBox="1"/>
          <p:nvPr/>
        </p:nvSpPr>
        <p:spPr>
          <a:xfrm>
            <a:off x="5440680" y="2103120"/>
            <a:ext cx="3063240" cy="868680"/>
          </a:xfrm>
          <a:prstGeom prst="rect">
            <a:avLst/>
          </a:prstGeom>
          <a:noFill/>
          <a:ln/>
        </p:spPr>
        <p:txBody>
          <a:bodyPr wrap="square" lIns="0" tIns="0" rIns="0" bIns="0" rtlCol="0" anchor="ctr"/>
          <a:lstStyle/>
          <a:p>
            <a:pPr indent="0" marL="0">
              <a:buNone/>
            </a:pPr>
            <a:r>
              <a:rPr lang="en-US" sz="1200" dirty="0">
                <a:solidFill>
                  <a:srgbClr val="5A5F7D"/>
                </a:solidFill>
                <a:latin typeface="Arial" pitchFamily="34" charset="0"/>
                <a:ea typeface="Arial" pitchFamily="34" charset="-122"/>
                <a:cs typeface="Arial" pitchFamily="34" charset="-120"/>
              </a:rPr>
              <a:t>Y </a:t>
            </a:r>
            <a:pPr indent="0" marL="0">
              <a:buNone/>
            </a:pPr>
            <a:r>
              <a:rPr lang="en-US" sz="1500" b="1" dirty="0">
                <a:solidFill>
                  <a:srgbClr val="0B0B33"/>
                </a:solidFill>
                <a:latin typeface="Arial" pitchFamily="34" charset="0"/>
                <a:ea typeface="Arial" pitchFamily="34" charset="-122"/>
                <a:cs typeface="Arial" pitchFamily="34" charset="-120"/>
              </a:rPr>
              <a:t>¿cuánto tarda en llevarla solo?</a:t>
            </a:r>
            <a:endParaRPr lang="en-US" sz="1200" dirty="0"/>
          </a:p>
        </p:txBody>
      </p:sp>
      <p:sp>
        <p:nvSpPr>
          <p:cNvPr id="13" name="Shape 10"/>
          <p:cNvSpPr/>
          <p:nvPr/>
        </p:nvSpPr>
        <p:spPr>
          <a:xfrm>
            <a:off x="457200" y="3291840"/>
            <a:ext cx="3977640" cy="1143000"/>
          </a:xfrm>
          <a:prstGeom prst="roundRect">
            <a:avLst>
              <a:gd name="adj" fmla="val 9600"/>
            </a:avLst>
          </a:prstGeom>
          <a:solidFill>
            <a:srgbClr val="F2F0FE"/>
          </a:solidFill>
          <a:ln w="9525">
            <a:solidFill>
              <a:srgbClr val="D8D8E6"/>
            </a:solidFill>
            <a:prstDash val="solid"/>
          </a:ln>
        </p:spPr>
      </p:sp>
      <p:sp>
        <p:nvSpPr>
          <p:cNvPr id="14" name="Shape 11"/>
          <p:cNvSpPr/>
          <p:nvPr/>
        </p:nvSpPr>
        <p:spPr>
          <a:xfrm>
            <a:off x="658368" y="3493008"/>
            <a:ext cx="365760" cy="365760"/>
          </a:xfrm>
          <a:prstGeom prst="ellipse">
            <a:avLst/>
          </a:prstGeom>
          <a:solidFill>
            <a:srgbClr val="6633E0"/>
          </a:solidFill>
          <a:ln w="12700">
            <a:solidFill>
              <a:srgbClr val="6633E0"/>
            </a:solidFill>
            <a:prstDash val="solid"/>
          </a:ln>
        </p:spPr>
      </p:sp>
      <p:sp>
        <p:nvSpPr>
          <p:cNvPr id="15" name="Text 12"/>
          <p:cNvSpPr txBox="1"/>
          <p:nvPr/>
        </p:nvSpPr>
        <p:spPr>
          <a:xfrm>
            <a:off x="658368" y="34930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3"/>
          <p:cNvSpPr txBox="1"/>
          <p:nvPr/>
        </p:nvSpPr>
        <p:spPr>
          <a:xfrm>
            <a:off x="1188720" y="3429000"/>
            <a:ext cx="3063240" cy="868680"/>
          </a:xfrm>
          <a:prstGeom prst="rect">
            <a:avLst/>
          </a:prstGeom>
          <a:noFill/>
          <a:ln/>
        </p:spPr>
        <p:txBody>
          <a:bodyPr wrap="square" lIns="0" tIns="0" rIns="0" bIns="0" rtlCol="0" anchor="ctr"/>
          <a:lstStyle/>
          <a:p>
            <a:pPr indent="0" marL="0">
              <a:buNone/>
            </a:pPr>
            <a:r>
              <a:rPr lang="en-US" sz="1200" dirty="0">
                <a:solidFill>
                  <a:srgbClr val="5A5F7D"/>
                </a:solidFill>
                <a:latin typeface="Arial" pitchFamily="34" charset="0"/>
                <a:ea typeface="Arial" pitchFamily="34" charset="-122"/>
                <a:cs typeface="Arial" pitchFamily="34" charset="-120"/>
              </a:rPr>
              <a:t>Lo que tenéis documentado, </a:t>
            </a:r>
            <a:pPr indent="0" marL="0">
              <a:buNone/>
            </a:pPr>
            <a:r>
              <a:rPr lang="en-US" sz="1500" b="1" dirty="0">
                <a:solidFill>
                  <a:srgbClr val="0B0B33"/>
                </a:solidFill>
                <a:latin typeface="Arial" pitchFamily="34" charset="0"/>
                <a:ea typeface="Arial" pitchFamily="34" charset="-122"/>
                <a:cs typeface="Arial" pitchFamily="34" charset="-120"/>
              </a:rPr>
              <a:t>¿lo usa el operario en la máquina o vive en una carpeta para la auditoría?</a:t>
            </a:r>
            <a:endParaRPr lang="en-US" sz="1200" dirty="0"/>
          </a:p>
        </p:txBody>
      </p:sp>
      <p:sp>
        <p:nvSpPr>
          <p:cNvPr id="17" name="Shape 14"/>
          <p:cNvSpPr/>
          <p:nvPr/>
        </p:nvSpPr>
        <p:spPr>
          <a:xfrm>
            <a:off x="4709160" y="3291840"/>
            <a:ext cx="3977640" cy="1143000"/>
          </a:xfrm>
          <a:prstGeom prst="roundRect">
            <a:avLst>
              <a:gd name="adj" fmla="val 9600"/>
            </a:avLst>
          </a:prstGeom>
          <a:solidFill>
            <a:srgbClr val="F2F0FE"/>
          </a:solidFill>
          <a:ln w="9525">
            <a:solidFill>
              <a:srgbClr val="D8D8E6"/>
            </a:solidFill>
            <a:prstDash val="solid"/>
          </a:ln>
        </p:spPr>
      </p:sp>
      <p:sp>
        <p:nvSpPr>
          <p:cNvPr id="18" name="Shape 15"/>
          <p:cNvSpPr/>
          <p:nvPr/>
        </p:nvSpPr>
        <p:spPr>
          <a:xfrm>
            <a:off x="4910328" y="3493008"/>
            <a:ext cx="365760" cy="365760"/>
          </a:xfrm>
          <a:prstGeom prst="ellipse">
            <a:avLst/>
          </a:prstGeom>
          <a:solidFill>
            <a:srgbClr val="6633E0"/>
          </a:solidFill>
          <a:ln w="12700">
            <a:solidFill>
              <a:srgbClr val="6633E0"/>
            </a:solidFill>
            <a:prstDash val="solid"/>
          </a:ln>
        </p:spPr>
      </p:sp>
      <p:sp>
        <p:nvSpPr>
          <p:cNvPr id="19" name="Text 16"/>
          <p:cNvSpPr txBox="1"/>
          <p:nvPr/>
        </p:nvSpPr>
        <p:spPr>
          <a:xfrm>
            <a:off x="4910328" y="34930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0" name="Text 17"/>
          <p:cNvSpPr txBox="1"/>
          <p:nvPr/>
        </p:nvSpPr>
        <p:spPr>
          <a:xfrm>
            <a:off x="5440680" y="3429000"/>
            <a:ext cx="3063240" cy="868680"/>
          </a:xfrm>
          <a:prstGeom prst="rect">
            <a:avLst/>
          </a:prstGeom>
          <a:noFill/>
          <a:ln/>
        </p:spPr>
        <p:txBody>
          <a:bodyPr wrap="square" lIns="0" tIns="0" rIns="0" bIns="0" rtlCol="0" anchor="ctr"/>
          <a:lstStyle/>
          <a:p>
            <a:pPr indent="0" marL="0">
              <a:buNone/>
            </a:pPr>
            <a:r>
              <a:rPr lang="en-US" sz="1200" dirty="0">
                <a:solidFill>
                  <a:srgbClr val="5A5F7D"/>
                </a:solidFill>
                <a:latin typeface="Arial" pitchFamily="34" charset="0"/>
                <a:ea typeface="Arial" pitchFamily="34" charset="-122"/>
                <a:cs typeface="Arial" pitchFamily="34" charset="-120"/>
              </a:rPr>
              <a:t>Eso que está escrito, </a:t>
            </a:r>
            <a:pPr indent="0" marL="0">
              <a:buNone/>
            </a:pPr>
            <a:r>
              <a:rPr lang="en-US" sz="1500" b="1" dirty="0">
                <a:solidFill>
                  <a:srgbClr val="0B0B33"/>
                </a:solidFill>
                <a:latin typeface="Arial" pitchFamily="34" charset="0"/>
                <a:ea typeface="Arial" pitchFamily="34" charset="-122"/>
                <a:cs typeface="Arial" pitchFamily="34" charset="-120"/>
              </a:rPr>
              <a:t>¿quién lo escribe hoy y cuánto le lleva?</a:t>
            </a:r>
            <a:endParaRPr lang="en-US" sz="1200" dirty="0"/>
          </a:p>
        </p:txBody>
      </p:sp>
      <p:sp>
        <p:nvSpPr>
          <p:cNvPr id="21" name="Text 18"/>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50" dirty="0">
                <a:solidFill>
                  <a:srgbClr val="5A5F7D"/>
                </a:solidFill>
                <a:latin typeface="Arial" pitchFamily="34" charset="0"/>
                <a:ea typeface="Arial" pitchFamily="34" charset="-122"/>
                <a:cs typeface="Arial" pitchFamily="34" charset="-120"/>
              </a:rPr>
              <a:t>Y una más, si hay tiempo: ¿qué pasa cuando se va alguien que lleva muchos años?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liamperezliberman/saas industrial/marca/logo-blanco.png">    </p:cNvPr>
          <p:cNvPicPr>
            <a:picLocks noChangeAspect="1"/>
          </p:cNvPicPr>
          <p:nvPr/>
        </p:nvPicPr>
        <p:blipFill>
          <a:blip r:embed="rId2"/>
          <a:stretch>
            <a:fillRect/>
          </a:stretch>
        </p:blipFill>
        <p:spPr>
          <a:xfrm>
            <a:off x="457200" y="292608"/>
            <a:ext cx="685414" cy="384048"/>
          </a:xfrm>
          <a:prstGeom prst="rect">
            <a:avLst/>
          </a:prstGeom>
        </p:spPr>
      </p:pic>
      <p:sp>
        <p:nvSpPr>
          <p:cNvPr id="3" name="Text 0"/>
          <p:cNvSpPr txBox="1"/>
          <p:nvPr/>
        </p:nvSpPr>
        <p:spPr>
          <a:xfrm>
            <a:off x="457200" y="77724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Todo el circuito, en 47 segundos</a:t>
            </a:r>
            <a:endParaRPr lang="en-US" sz="260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457200" y="1417320"/>
            <a:ext cx="5852160" cy="3291840"/>
          </a:xfrm>
          <a:prstGeom prst="rect">
            <a:avLst/>
          </a:prstGeom>
        </p:spPr>
      </p:pic>
      <p:sp>
        <p:nvSpPr>
          <p:cNvPr id="5" name="Text 1"/>
          <p:cNvSpPr txBox="1"/>
          <p:nvPr/>
        </p:nvSpPr>
        <p:spPr>
          <a:xfrm>
            <a:off x="6583680" y="1417320"/>
            <a:ext cx="219456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Lo que vais a ver</a:t>
            </a:r>
            <a:endParaRPr lang="en-US" sz="1300" dirty="0"/>
          </a:p>
        </p:txBody>
      </p:sp>
      <p:sp>
        <p:nvSpPr>
          <p:cNvPr id="6" name="Text 2"/>
          <p:cNvSpPr txBox="1"/>
          <p:nvPr/>
        </p:nvSpPr>
        <p:spPr>
          <a:xfrm>
            <a:off x="6583680" y="1783080"/>
            <a:ext cx="2194560" cy="21031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E4E4FA"/>
                </a:solidFill>
                <a:latin typeface="Arial" pitchFamily="34" charset="0"/>
                <a:ea typeface="Arial" pitchFamily="34" charset="-122"/>
                <a:cs typeface="Arial" pitchFamily="34" charset="-120"/>
              </a:rPr>
              <a:t>Un operario graba el proceso con el móvil</a:t>
            </a:r>
            <a:endParaRPr lang="en-US" sz="1150" dirty="0"/>
          </a:p>
          <a:p>
            <a:pPr marL="342900" indent="-342900">
              <a:spcAft>
                <a:spcPts val="500"/>
              </a:spcAft>
              <a:buSzPct val="100000"/>
              <a:buChar char="•"/>
            </a:pPr>
            <a:r>
              <a:rPr lang="en-US" sz="1150" dirty="0">
                <a:solidFill>
                  <a:srgbClr val="E4E4FA"/>
                </a:solidFill>
                <a:latin typeface="Arial" pitchFamily="34" charset="0"/>
                <a:ea typeface="Arial" pitchFamily="34" charset="-122"/>
                <a:cs typeface="Arial" pitchFamily="34" charset="-120"/>
              </a:rPr>
              <a:t>Sale un documento en el formato de la fábrica</a:t>
            </a:r>
            <a:endParaRPr lang="en-US" sz="1150" dirty="0"/>
          </a:p>
          <a:p>
            <a:pPr marL="342900" indent="-342900">
              <a:spcAft>
                <a:spcPts val="500"/>
              </a:spcAft>
              <a:buSzPct val="100000"/>
              <a:buChar char="•"/>
            </a:pPr>
            <a:r>
              <a:rPr lang="en-US" sz="1150" dirty="0">
                <a:solidFill>
                  <a:srgbClr val="E4E4FA"/>
                </a:solidFill>
                <a:latin typeface="Arial" pitchFamily="34" charset="0"/>
                <a:ea typeface="Arial" pitchFamily="34" charset="-122"/>
                <a:cs typeface="Arial" pitchFamily="34" charset="-120"/>
              </a:rPr>
              <a:t>Cada paso lleva foto y minuto del vídeo</a:t>
            </a:r>
            <a:endParaRPr lang="en-US" sz="1150" dirty="0"/>
          </a:p>
          <a:p>
            <a:pPr marL="342900" indent="-342900">
              <a:spcAft>
                <a:spcPts val="500"/>
              </a:spcAft>
              <a:buSzPct val="100000"/>
              <a:buChar char="•"/>
            </a:pPr>
            <a:r>
              <a:rPr lang="en-US" sz="1150" dirty="0">
                <a:solidFill>
                  <a:srgbClr val="E4E4FA"/>
                </a:solidFill>
                <a:latin typeface="Arial" pitchFamily="34" charset="0"/>
                <a:ea typeface="Arial" pitchFamily="34" charset="-122"/>
                <a:cs typeface="Arial" pitchFamily="34" charset="-120"/>
              </a:rPr>
              <a:t>Lo que falta queda en amarillo</a:t>
            </a:r>
            <a:endParaRPr lang="en-US" sz="1150" dirty="0"/>
          </a:p>
          <a:p>
            <a:pPr marL="342900" indent="-342900">
              <a:spcAft>
                <a:spcPts val="500"/>
              </a:spcAft>
              <a:buSzPct val="100000"/>
              <a:buChar char="•"/>
            </a:pPr>
            <a:r>
              <a:rPr lang="en-US" sz="1150" dirty="0">
                <a:solidFill>
                  <a:srgbClr val="E4E4FA"/>
                </a:solidFill>
                <a:latin typeface="Arial" pitchFamily="34" charset="0"/>
                <a:ea typeface="Arial" pitchFamily="34" charset="-122"/>
                <a:cs typeface="Arial" pitchFamily="34" charset="-120"/>
              </a:rPr>
              <a:t>Un QR en la máquina abre el manual y el vídeo</a:t>
            </a:r>
            <a:endParaRPr lang="en-US" sz="1150" dirty="0"/>
          </a:p>
        </p:txBody>
      </p:sp>
      <p:sp>
        <p:nvSpPr>
          <p:cNvPr id="7" name="Shape 3"/>
          <p:cNvSpPr/>
          <p:nvPr/>
        </p:nvSpPr>
        <p:spPr>
          <a:xfrm>
            <a:off x="6583680" y="4069080"/>
            <a:ext cx="2194560" cy="411480"/>
          </a:xfrm>
          <a:prstGeom prst="roundRect">
            <a:avLst>
              <a:gd name="adj" fmla="val 22222"/>
            </a:avLst>
          </a:prstGeom>
          <a:solidFill>
            <a:srgbClr val="0B0B33"/>
          </a:solidFill>
          <a:ln w="12700">
            <a:solidFill>
              <a:srgbClr val="0B0B33"/>
            </a:solidFill>
            <a:prstDash val="solid"/>
          </a:ln>
        </p:spPr>
      </p:sp>
      <p:sp>
        <p:nvSpPr>
          <p:cNvPr id="8" name="Text 4">
            <a:hlinkClick r:id="rId6" tooltip="https://l1yac.github.io/mapealo/video/"/>
          </p:cNvPr>
          <p:cNvSpPr txBox="1"/>
          <p:nvPr/>
        </p:nvSpPr>
        <p:spPr>
          <a:xfrm>
            <a:off x="6583680" y="4069080"/>
            <a:ext cx="2194560" cy="411480"/>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6" invalidUrl="" action="" tgtFrame="" tooltip="https://l1yac.github.io/mapealo/video/" history="1" highlightClick="0" endSnd="0">
                  <a:extLst>
                    <a:ext uri="{A12FA001-AC4F-418D-AE19-62706E023703}">
                      <ahyp:hlinkClr xmlns:ahyp="http://schemas.microsoft.com/office/drawing/2018/hyperlinkcolor" val="tx"/>
                    </a:ext>
                  </a:extLst>
                </a:hlinkClick>
              </a:rPr>
              <a:t>Ver el vídeo en la web ↗</a:t>
            </a:r>
            <a:endParaRPr lang="en-US" sz="1150" dirty="0"/>
          </a:p>
        </p:txBody>
      </p:sp>
      <p:sp>
        <p:nvSpPr>
          <p:cNvPr id="9" name="Text 5"/>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50" dirty="0">
                <a:solidFill>
                  <a:srgbClr val="CFCFEA"/>
                </a:solidFill>
                <a:latin typeface="Arial" pitchFamily="34" charset="0"/>
                <a:ea typeface="Arial" pitchFamily="34" charset="-122"/>
                <a:cs typeface="Arial" pitchFamily="34" charset="-120"/>
              </a:rPr>
              <a:t>Grabado en Pedro Iniesta S.A. (Elche) · proceso de cortado · documento real, sin retoques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Users/liamperezliberman/saas industrial/marca/logo-color.png">    </p:cNvPr>
          <p:cNvPicPr>
            <a:picLocks noChangeAspect="1"/>
          </p:cNvPicPr>
          <p:nvPr/>
        </p:nvPicPr>
        <p:blipFill>
          <a:blip r:embed="rId1"/>
          <a:stretch>
            <a:fillRect/>
          </a:stretch>
        </p:blipFill>
        <p:spPr>
          <a:xfrm>
            <a:off x="457200" y="292608"/>
            <a:ext cx="685414" cy="384048"/>
          </a:xfrm>
          <a:prstGeom prst="rect">
            <a:avLst/>
          </a:prstGeom>
        </p:spPr>
      </p:pic>
      <p:sp>
        <p:nvSpPr>
          <p:cNvPr id="3" name="Text 0"/>
          <p:cNvSpPr txBox="1"/>
          <p:nvPr/>
        </p:nvSpPr>
        <p:spPr>
          <a:xfrm>
            <a:off x="457200" y="777240"/>
            <a:ext cx="8229600" cy="640080"/>
          </a:xfrm>
          <a:prstGeom prst="rect">
            <a:avLst/>
          </a:prstGeom>
          <a:noFill/>
          <a:ln/>
        </p:spPr>
        <p:txBody>
          <a:bodyPr wrap="square" lIns="0" tIns="0" rIns="0" bIns="0" rtlCol="0" anchor="t"/>
          <a:lstStyle/>
          <a:p>
            <a:pPr indent="0" marL="0">
              <a:buNone/>
            </a:pPr>
            <a:r>
              <a:rPr lang="en-US" sz="3000" b="1" dirty="0">
                <a:solidFill>
                  <a:srgbClr val="0B0B33"/>
                </a:solidFill>
                <a:latin typeface="Arial" pitchFamily="34" charset="0"/>
                <a:ea typeface="Arial" pitchFamily="34" charset="-122"/>
                <a:cs typeface="Arial" pitchFamily="34" charset="-120"/>
              </a:rPr>
              <a:t>De 3 minutos de vídeo a 4 páginas de manual</a:t>
            </a:r>
            <a:endParaRPr lang="en-US" sz="3000" dirty="0"/>
          </a:p>
        </p:txBody>
      </p:sp>
      <p:sp>
        <p:nvSpPr>
          <p:cNvPr id="4" name="Text 1"/>
          <p:cNvSpPr txBox="1"/>
          <p:nvPr/>
        </p:nvSpPr>
        <p:spPr>
          <a:xfrm>
            <a:off x="457200" y="1371600"/>
            <a:ext cx="8229600" cy="365760"/>
          </a:xfrm>
          <a:prstGeom prst="rect">
            <a:avLst/>
          </a:prstGeom>
          <a:noFill/>
          <a:ln/>
        </p:spPr>
        <p:txBody>
          <a:bodyPr wrap="square" lIns="0" tIns="0" rIns="0" bIns="0" rtlCol="0" anchor="t"/>
          <a:lstStyle/>
          <a:p>
            <a:pPr indent="0" marL="0">
              <a:buNone/>
            </a:pPr>
            <a:r>
              <a:rPr lang="en-US" sz="1400" dirty="0">
                <a:solidFill>
                  <a:srgbClr val="5A5F7D"/>
                </a:solidFill>
                <a:latin typeface="Arial" pitchFamily="34" charset="0"/>
                <a:ea typeface="Arial" pitchFamily="34" charset="-122"/>
                <a:cs typeface="Arial" pitchFamily="34" charset="-120"/>
              </a:rPr>
              <a:t>Nadie escribe desde cero. El operario graba; el sistema corta, maqueta y marca lo que falta; Calidad revisa y aprueba.</a:t>
            </a:r>
            <a:endParaRPr lang="en-US" sz="1400" dirty="0"/>
          </a:p>
        </p:txBody>
      </p:sp>
      <p:sp>
        <p:nvSpPr>
          <p:cNvPr id="5" name="Shape 2"/>
          <p:cNvSpPr/>
          <p:nvPr/>
        </p:nvSpPr>
        <p:spPr>
          <a:xfrm>
            <a:off x="457200" y="2011680"/>
            <a:ext cx="1554480" cy="2286000"/>
          </a:xfrm>
          <a:prstGeom prst="roundRect">
            <a:avLst>
              <a:gd name="adj" fmla="val 7059"/>
            </a:avLst>
          </a:prstGeom>
          <a:solidFill>
            <a:srgbClr val="F1F1F8"/>
          </a:solidFill>
          <a:ln w="9525">
            <a:solidFill>
              <a:srgbClr val="D8D8E6"/>
            </a:solidFill>
            <a:prstDash val="solid"/>
          </a:ln>
        </p:spPr>
      </p:sp>
      <p:sp>
        <p:nvSpPr>
          <p:cNvPr id="6" name="Shape 3"/>
          <p:cNvSpPr/>
          <p:nvPr/>
        </p:nvSpPr>
        <p:spPr>
          <a:xfrm>
            <a:off x="640080" y="2194560"/>
            <a:ext cx="384048" cy="384048"/>
          </a:xfrm>
          <a:prstGeom prst="ellipse">
            <a:avLst/>
          </a:prstGeom>
          <a:solidFill>
            <a:srgbClr val="2A66DB"/>
          </a:solidFill>
          <a:ln w="12700">
            <a:solidFill>
              <a:srgbClr val="2A66DB"/>
            </a:solidFill>
            <a:prstDash val="solid"/>
          </a:ln>
        </p:spPr>
      </p:sp>
      <p:sp>
        <p:nvSpPr>
          <p:cNvPr id="7" name="Text 4"/>
          <p:cNvSpPr txBox="1"/>
          <p:nvPr/>
        </p:nvSpPr>
        <p:spPr>
          <a:xfrm>
            <a:off x="640080" y="2194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621792" y="2697480"/>
            <a:ext cx="1225296" cy="548640"/>
          </a:xfrm>
          <a:prstGeom prst="rect">
            <a:avLst/>
          </a:prstGeom>
          <a:noFill/>
          <a:ln/>
        </p:spPr>
        <p:txBody>
          <a:bodyPr wrap="square" lIns="0" tIns="0" rIns="0" bIns="0" rtlCol="0" anchor="t"/>
          <a:lstStyle/>
          <a:p>
            <a:pPr indent="0" marL="0">
              <a:buNone/>
            </a:pPr>
            <a:r>
              <a:rPr lang="en-US" sz="1250" b="1" dirty="0">
                <a:solidFill>
                  <a:srgbClr val="0B0B33"/>
                </a:solidFill>
                <a:latin typeface="Arial" pitchFamily="34" charset="0"/>
                <a:ea typeface="Arial" pitchFamily="34" charset="-122"/>
                <a:cs typeface="Arial" pitchFamily="34" charset="-120"/>
              </a:rPr>
              <a:t>El operario graba</a:t>
            </a:r>
            <a:endParaRPr lang="en-US" sz="1250" dirty="0"/>
          </a:p>
        </p:txBody>
      </p:sp>
      <p:sp>
        <p:nvSpPr>
          <p:cNvPr id="9" name="Text 6"/>
          <p:cNvSpPr txBox="1"/>
          <p:nvPr/>
        </p:nvSpPr>
        <p:spPr>
          <a:xfrm>
            <a:off x="621792" y="3246120"/>
            <a:ext cx="1225296" cy="960120"/>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3 minutos con el móvil, siguiendo cuatro frases que le damos.</a:t>
            </a:r>
            <a:endParaRPr lang="en-US" sz="1050" dirty="0"/>
          </a:p>
        </p:txBody>
      </p:sp>
      <p:sp>
        <p:nvSpPr>
          <p:cNvPr id="10" name="Shape 7"/>
          <p:cNvSpPr/>
          <p:nvPr/>
        </p:nvSpPr>
        <p:spPr>
          <a:xfrm>
            <a:off x="2103120" y="2011680"/>
            <a:ext cx="1554480" cy="2286000"/>
          </a:xfrm>
          <a:prstGeom prst="roundRect">
            <a:avLst>
              <a:gd name="adj" fmla="val 7059"/>
            </a:avLst>
          </a:prstGeom>
          <a:solidFill>
            <a:srgbClr val="F1F1F8"/>
          </a:solidFill>
          <a:ln w="9525">
            <a:solidFill>
              <a:srgbClr val="D8D8E6"/>
            </a:solidFill>
            <a:prstDash val="solid"/>
          </a:ln>
        </p:spPr>
      </p:sp>
      <p:sp>
        <p:nvSpPr>
          <p:cNvPr id="11" name="Shape 8"/>
          <p:cNvSpPr/>
          <p:nvPr/>
        </p:nvSpPr>
        <p:spPr>
          <a:xfrm>
            <a:off x="2286000" y="2194560"/>
            <a:ext cx="384048" cy="384048"/>
          </a:xfrm>
          <a:prstGeom prst="ellipse">
            <a:avLst/>
          </a:prstGeom>
          <a:solidFill>
            <a:srgbClr val="2A66DB"/>
          </a:solidFill>
          <a:ln w="12700">
            <a:solidFill>
              <a:srgbClr val="2A66DB"/>
            </a:solidFill>
            <a:prstDash val="solid"/>
          </a:ln>
        </p:spPr>
      </p:sp>
      <p:sp>
        <p:nvSpPr>
          <p:cNvPr id="12" name="Text 9"/>
          <p:cNvSpPr txBox="1"/>
          <p:nvPr/>
        </p:nvSpPr>
        <p:spPr>
          <a:xfrm>
            <a:off x="2286000" y="2194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2267712" y="2697480"/>
            <a:ext cx="1225296" cy="548640"/>
          </a:xfrm>
          <a:prstGeom prst="rect">
            <a:avLst/>
          </a:prstGeom>
          <a:noFill/>
          <a:ln/>
        </p:spPr>
        <p:txBody>
          <a:bodyPr wrap="square" lIns="0" tIns="0" rIns="0" bIns="0" rtlCol="0" anchor="t"/>
          <a:lstStyle/>
          <a:p>
            <a:pPr indent="0" marL="0">
              <a:buNone/>
            </a:pPr>
            <a:r>
              <a:rPr lang="en-US" sz="1250" b="1" dirty="0">
                <a:solidFill>
                  <a:srgbClr val="0B0B33"/>
                </a:solidFill>
                <a:latin typeface="Arial" pitchFamily="34" charset="0"/>
                <a:ea typeface="Arial" pitchFamily="34" charset="-122"/>
                <a:cs typeface="Arial" pitchFamily="34" charset="-120"/>
              </a:rPr>
              <a:t>Se corta en pasos</a:t>
            </a:r>
            <a:endParaRPr lang="en-US" sz="1250" dirty="0"/>
          </a:p>
        </p:txBody>
      </p:sp>
      <p:sp>
        <p:nvSpPr>
          <p:cNvPr id="14" name="Text 11"/>
          <p:cNvSpPr txBox="1"/>
          <p:nvPr/>
        </p:nvSpPr>
        <p:spPr>
          <a:xfrm>
            <a:off x="2267712" y="3246120"/>
            <a:ext cx="1225296" cy="960120"/>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Cada paso con su foto y el minuto exacto del vídeo.</a:t>
            </a:r>
            <a:endParaRPr lang="en-US" sz="1050" dirty="0"/>
          </a:p>
        </p:txBody>
      </p:sp>
      <p:sp>
        <p:nvSpPr>
          <p:cNvPr id="15" name="Shape 12"/>
          <p:cNvSpPr/>
          <p:nvPr/>
        </p:nvSpPr>
        <p:spPr>
          <a:xfrm>
            <a:off x="3749040" y="2011680"/>
            <a:ext cx="1554480" cy="2286000"/>
          </a:xfrm>
          <a:prstGeom prst="roundRect">
            <a:avLst>
              <a:gd name="adj" fmla="val 7059"/>
            </a:avLst>
          </a:prstGeom>
          <a:solidFill>
            <a:srgbClr val="F1F1F8"/>
          </a:solidFill>
          <a:ln w="9525">
            <a:solidFill>
              <a:srgbClr val="D8D8E6"/>
            </a:solidFill>
            <a:prstDash val="solid"/>
          </a:ln>
        </p:spPr>
      </p:sp>
      <p:sp>
        <p:nvSpPr>
          <p:cNvPr id="16" name="Shape 13"/>
          <p:cNvSpPr/>
          <p:nvPr/>
        </p:nvSpPr>
        <p:spPr>
          <a:xfrm>
            <a:off x="3931920" y="2194560"/>
            <a:ext cx="384048" cy="384048"/>
          </a:xfrm>
          <a:prstGeom prst="ellipse">
            <a:avLst/>
          </a:prstGeom>
          <a:solidFill>
            <a:srgbClr val="2A66DB"/>
          </a:solidFill>
          <a:ln w="12700">
            <a:solidFill>
              <a:srgbClr val="2A66DB"/>
            </a:solidFill>
            <a:prstDash val="solid"/>
          </a:ln>
        </p:spPr>
      </p:sp>
      <p:sp>
        <p:nvSpPr>
          <p:cNvPr id="17" name="Text 14"/>
          <p:cNvSpPr txBox="1"/>
          <p:nvPr/>
        </p:nvSpPr>
        <p:spPr>
          <a:xfrm>
            <a:off x="3931920" y="2194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3913632" y="2697480"/>
            <a:ext cx="1225296" cy="548640"/>
          </a:xfrm>
          <a:prstGeom prst="rect">
            <a:avLst/>
          </a:prstGeom>
          <a:noFill/>
          <a:ln/>
        </p:spPr>
        <p:txBody>
          <a:bodyPr wrap="square" lIns="0" tIns="0" rIns="0" bIns="0" rtlCol="0" anchor="t"/>
          <a:lstStyle/>
          <a:p>
            <a:pPr indent="0" marL="0">
              <a:buNone/>
            </a:pPr>
            <a:r>
              <a:rPr lang="en-US" sz="1250" b="1" dirty="0">
                <a:solidFill>
                  <a:srgbClr val="0B0B33"/>
                </a:solidFill>
                <a:latin typeface="Arial" pitchFamily="34" charset="0"/>
                <a:ea typeface="Arial" pitchFamily="34" charset="-122"/>
                <a:cs typeface="Arial" pitchFamily="34" charset="-120"/>
              </a:rPr>
              <a:t>Sale en vuestro formato</a:t>
            </a:r>
            <a:endParaRPr lang="en-US" sz="1250" dirty="0"/>
          </a:p>
        </p:txBody>
      </p:sp>
      <p:sp>
        <p:nvSpPr>
          <p:cNvPr id="19" name="Text 16"/>
          <p:cNvSpPr txBox="1"/>
          <p:nvPr/>
        </p:nvSpPr>
        <p:spPr>
          <a:xfrm>
            <a:off x="3913632" y="3246120"/>
            <a:ext cx="1225296" cy="960120"/>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Código, edición, historial de revisiones, firmas: calcado del vuestro.</a:t>
            </a:r>
            <a:endParaRPr lang="en-US" sz="1050" dirty="0"/>
          </a:p>
        </p:txBody>
      </p:sp>
      <p:sp>
        <p:nvSpPr>
          <p:cNvPr id="20" name="Shape 17"/>
          <p:cNvSpPr/>
          <p:nvPr/>
        </p:nvSpPr>
        <p:spPr>
          <a:xfrm>
            <a:off x="5394960" y="2011680"/>
            <a:ext cx="1554480" cy="2286000"/>
          </a:xfrm>
          <a:prstGeom prst="roundRect">
            <a:avLst>
              <a:gd name="adj" fmla="val 7059"/>
            </a:avLst>
          </a:prstGeom>
          <a:solidFill>
            <a:srgbClr val="F1F1F8"/>
          </a:solidFill>
          <a:ln w="9525">
            <a:solidFill>
              <a:srgbClr val="D8D8E6"/>
            </a:solidFill>
            <a:prstDash val="solid"/>
          </a:ln>
        </p:spPr>
      </p:sp>
      <p:sp>
        <p:nvSpPr>
          <p:cNvPr id="21" name="Shape 18"/>
          <p:cNvSpPr/>
          <p:nvPr/>
        </p:nvSpPr>
        <p:spPr>
          <a:xfrm>
            <a:off x="5577840" y="2194560"/>
            <a:ext cx="384048" cy="384048"/>
          </a:xfrm>
          <a:prstGeom prst="ellipse">
            <a:avLst/>
          </a:prstGeom>
          <a:solidFill>
            <a:srgbClr val="B57D00"/>
          </a:solidFill>
          <a:ln w="12700">
            <a:solidFill>
              <a:srgbClr val="B57D00"/>
            </a:solidFill>
            <a:prstDash val="solid"/>
          </a:ln>
        </p:spPr>
      </p:sp>
      <p:sp>
        <p:nvSpPr>
          <p:cNvPr id="22" name="Text 19"/>
          <p:cNvSpPr txBox="1"/>
          <p:nvPr/>
        </p:nvSpPr>
        <p:spPr>
          <a:xfrm>
            <a:off x="5577840" y="2194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3" name="Text 20"/>
          <p:cNvSpPr txBox="1"/>
          <p:nvPr/>
        </p:nvSpPr>
        <p:spPr>
          <a:xfrm>
            <a:off x="5559552" y="2697480"/>
            <a:ext cx="1225296" cy="548640"/>
          </a:xfrm>
          <a:prstGeom prst="rect">
            <a:avLst/>
          </a:prstGeom>
          <a:noFill/>
          <a:ln/>
        </p:spPr>
        <p:txBody>
          <a:bodyPr wrap="square" lIns="0" tIns="0" rIns="0" bIns="0" rtlCol="0" anchor="t"/>
          <a:lstStyle/>
          <a:p>
            <a:pPr indent="0" marL="0">
              <a:buNone/>
            </a:pPr>
            <a:r>
              <a:rPr lang="en-US" sz="1250" b="1" dirty="0">
                <a:solidFill>
                  <a:srgbClr val="0B0B33"/>
                </a:solidFill>
                <a:latin typeface="Arial" pitchFamily="34" charset="0"/>
                <a:ea typeface="Arial" pitchFamily="34" charset="-122"/>
                <a:cs typeface="Arial" pitchFamily="34" charset="-120"/>
              </a:rPr>
              <a:t>Calidad rellena lo amarillo</a:t>
            </a:r>
            <a:endParaRPr lang="en-US" sz="1250" dirty="0"/>
          </a:p>
        </p:txBody>
      </p:sp>
      <p:sp>
        <p:nvSpPr>
          <p:cNvPr id="24" name="Text 21"/>
          <p:cNvSpPr txBox="1"/>
          <p:nvPr/>
        </p:nvSpPr>
        <p:spPr>
          <a:xfrm>
            <a:off x="5559552" y="3246120"/>
            <a:ext cx="1225296" cy="960120"/>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Lo que nadie dijo queda marcado. No se aprueba hasta rellenarlo.</a:t>
            </a:r>
            <a:endParaRPr lang="en-US" sz="1050" dirty="0"/>
          </a:p>
        </p:txBody>
      </p:sp>
      <p:sp>
        <p:nvSpPr>
          <p:cNvPr id="25" name="Shape 22"/>
          <p:cNvSpPr/>
          <p:nvPr/>
        </p:nvSpPr>
        <p:spPr>
          <a:xfrm>
            <a:off x="7040880" y="2011680"/>
            <a:ext cx="1554480" cy="2286000"/>
          </a:xfrm>
          <a:prstGeom prst="roundRect">
            <a:avLst>
              <a:gd name="adj" fmla="val 7059"/>
            </a:avLst>
          </a:prstGeom>
          <a:solidFill>
            <a:srgbClr val="F1F1F8"/>
          </a:solidFill>
          <a:ln w="9525">
            <a:solidFill>
              <a:srgbClr val="D8D8E6"/>
            </a:solidFill>
            <a:prstDash val="solid"/>
          </a:ln>
        </p:spPr>
      </p:sp>
      <p:sp>
        <p:nvSpPr>
          <p:cNvPr id="26" name="Shape 23"/>
          <p:cNvSpPr/>
          <p:nvPr/>
        </p:nvSpPr>
        <p:spPr>
          <a:xfrm>
            <a:off x="7223760" y="2194560"/>
            <a:ext cx="384048" cy="384048"/>
          </a:xfrm>
          <a:prstGeom prst="ellipse">
            <a:avLst/>
          </a:prstGeom>
          <a:solidFill>
            <a:srgbClr val="2A66DB"/>
          </a:solidFill>
          <a:ln w="12700">
            <a:solidFill>
              <a:srgbClr val="2A66DB"/>
            </a:solidFill>
            <a:prstDash val="solid"/>
          </a:ln>
        </p:spPr>
      </p:sp>
      <p:sp>
        <p:nvSpPr>
          <p:cNvPr id="27" name="Text 24"/>
          <p:cNvSpPr txBox="1"/>
          <p:nvPr/>
        </p:nvSpPr>
        <p:spPr>
          <a:xfrm>
            <a:off x="7223760" y="2194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8" name="Text 25"/>
          <p:cNvSpPr txBox="1"/>
          <p:nvPr/>
        </p:nvSpPr>
        <p:spPr>
          <a:xfrm>
            <a:off x="7205472" y="2697480"/>
            <a:ext cx="1225296" cy="548640"/>
          </a:xfrm>
          <a:prstGeom prst="rect">
            <a:avLst/>
          </a:prstGeom>
          <a:noFill/>
          <a:ln/>
        </p:spPr>
        <p:txBody>
          <a:bodyPr wrap="square" lIns="0" tIns="0" rIns="0" bIns="0" rtlCol="0" anchor="t"/>
          <a:lstStyle/>
          <a:p>
            <a:pPr indent="0" marL="0">
              <a:buNone/>
            </a:pPr>
            <a:r>
              <a:rPr lang="en-US" sz="1250" b="1" dirty="0">
                <a:solidFill>
                  <a:srgbClr val="0B0B33"/>
                </a:solidFill>
                <a:latin typeface="Arial" pitchFamily="34" charset="0"/>
                <a:ea typeface="Arial" pitchFamily="34" charset="-122"/>
                <a:cs typeface="Arial" pitchFamily="34" charset="-120"/>
              </a:rPr>
              <a:t>QR en la máquina</a:t>
            </a:r>
            <a:endParaRPr lang="en-US" sz="1250" dirty="0"/>
          </a:p>
        </p:txBody>
      </p:sp>
      <p:sp>
        <p:nvSpPr>
          <p:cNvPr id="29" name="Text 26"/>
          <p:cNvSpPr txBox="1"/>
          <p:nvPr/>
        </p:nvSpPr>
        <p:spPr>
          <a:xfrm>
            <a:off x="7205472" y="3246120"/>
            <a:ext cx="1225296" cy="960120"/>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Se pega en la máquina y abre el manual y el vídeo.</a:t>
            </a:r>
            <a:endParaRPr lang="en-US" sz="1050" dirty="0"/>
          </a:p>
        </p:txBody>
      </p:sp>
      <p:sp>
        <p:nvSpPr>
          <p:cNvPr id="30" name="Text 27"/>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50" dirty="0">
                <a:solidFill>
                  <a:srgbClr val="5A5F7D"/>
                </a:solidFill>
                <a:latin typeface="Arial" pitchFamily="34" charset="0"/>
                <a:ea typeface="Arial" pitchFamily="34" charset="-122"/>
                <a:cs typeface="Arial" pitchFamily="34" charset="-120"/>
              </a:rPr>
              <a:t>El texto lo revisa siempre vuestro responsable de calidad antes de aprobar el documento.</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Users/liamperezliberman/saas industrial/marca/logo-color.png">    </p:cNvPr>
          <p:cNvPicPr>
            <a:picLocks noChangeAspect="1"/>
          </p:cNvPicPr>
          <p:nvPr/>
        </p:nvPicPr>
        <p:blipFill>
          <a:blip r:embed="rId1"/>
          <a:stretch>
            <a:fillRect/>
          </a:stretch>
        </p:blipFill>
        <p:spPr>
          <a:xfrm>
            <a:off x="457200" y="292608"/>
            <a:ext cx="685414" cy="384048"/>
          </a:xfrm>
          <a:prstGeom prst="rect">
            <a:avLst/>
          </a:prstGeom>
        </p:spPr>
      </p:pic>
      <p:sp>
        <p:nvSpPr>
          <p:cNvPr id="3" name="Text 0"/>
          <p:cNvSpPr txBox="1"/>
          <p:nvPr/>
        </p:nvSpPr>
        <p:spPr>
          <a:xfrm>
            <a:off x="457200" y="777240"/>
            <a:ext cx="8229600" cy="640080"/>
          </a:xfrm>
          <a:prstGeom prst="rect">
            <a:avLst/>
          </a:prstGeom>
          <a:noFill/>
          <a:ln/>
        </p:spPr>
        <p:txBody>
          <a:bodyPr wrap="square" lIns="0" tIns="0" rIns="0" bIns="0" rtlCol="0" anchor="t"/>
          <a:lstStyle/>
          <a:p>
            <a:pPr indent="0" marL="0">
              <a:buNone/>
            </a:pPr>
            <a:r>
              <a:rPr lang="en-US" sz="3000" b="1" dirty="0">
                <a:solidFill>
                  <a:srgbClr val="0B0B33"/>
                </a:solidFill>
                <a:latin typeface="Arial" pitchFamily="34" charset="0"/>
                <a:ea typeface="Arial" pitchFamily="34" charset="-122"/>
                <a:cs typeface="Arial" pitchFamily="34" charset="-120"/>
              </a:rPr>
              <a:t>Así queda el documento, terminado</a:t>
            </a:r>
            <a:endParaRPr lang="en-US" sz="3000" dirty="0"/>
          </a:p>
        </p:txBody>
      </p:sp>
      <p:sp>
        <p:nvSpPr>
          <p:cNvPr id="4" name="Text 1"/>
          <p:cNvSpPr txBox="1"/>
          <p:nvPr/>
        </p:nvSpPr>
        <p:spPr>
          <a:xfrm>
            <a:off x="457200" y="1371600"/>
            <a:ext cx="8229600" cy="365760"/>
          </a:xfrm>
          <a:prstGeom prst="rect">
            <a:avLst/>
          </a:prstGeom>
          <a:noFill/>
          <a:ln/>
        </p:spPr>
        <p:txBody>
          <a:bodyPr wrap="square" lIns="0" tIns="0" rIns="0" bIns="0" rtlCol="0" anchor="t"/>
          <a:lstStyle/>
          <a:p>
            <a:pPr indent="0" marL="0">
              <a:buNone/>
            </a:pPr>
            <a:r>
              <a:rPr lang="en-US" sz="1400" dirty="0">
                <a:solidFill>
                  <a:srgbClr val="5A5F7D"/>
                </a:solidFill>
                <a:latin typeface="Arial" pitchFamily="34" charset="0"/>
                <a:ea typeface="Arial" pitchFamily="34" charset="-122"/>
                <a:cs typeface="Arial" pitchFamily="34" charset="-120"/>
              </a:rPr>
              <a:t>Un ejemplo con todos los campos cerrados, en el formato de la propia fábrica.</a:t>
            </a:r>
            <a:endParaRPr lang="en-US" sz="1400" dirty="0"/>
          </a:p>
        </p:txBody>
      </p:sp>
      <p:pic>
        <p:nvPicPr>
          <p:cNvPr id="5" name="Image 1" descr="/private/tmp/claude-501/-Users-liamperezliberman-saas-industrial/c1c174a3-f611-49b4-97d0-435e2edb4893/scratchpad/deck/e-cabecera.png">    </p:cNvPr>
          <p:cNvPicPr>
            <a:picLocks noChangeAspect="1"/>
          </p:cNvPicPr>
          <p:nvPr/>
        </p:nvPicPr>
        <p:blipFill>
          <a:blip r:embed="rId2"/>
          <a:stretch>
            <a:fillRect/>
          </a:stretch>
        </p:blipFill>
        <p:spPr>
          <a:xfrm>
            <a:off x="457200" y="1666263"/>
            <a:ext cx="4754880" cy="754841"/>
          </a:xfrm>
          <a:prstGeom prst="rect">
            <a:avLst/>
          </a:prstGeom>
        </p:spPr>
      </p:pic>
      <p:pic>
        <p:nvPicPr>
          <p:cNvPr id="6" name="Image 2" descr="/private/tmp/claude-501/-Users-liamperezliberman-saas-industrial/c1c174a3-f611-49b4-97d0-435e2edb4893/scratchpad/deck/e-mandos.png">    </p:cNvPr>
          <p:cNvPicPr>
            <a:picLocks noChangeAspect="1"/>
          </p:cNvPicPr>
          <p:nvPr/>
        </p:nvPicPr>
        <p:blipFill>
          <a:blip r:embed="rId3"/>
          <a:stretch>
            <a:fillRect/>
          </a:stretch>
        </p:blipFill>
        <p:spPr>
          <a:xfrm>
            <a:off x="457200" y="2498287"/>
            <a:ext cx="4754880" cy="1385938"/>
          </a:xfrm>
          <a:prstGeom prst="rect">
            <a:avLst/>
          </a:prstGeom>
        </p:spPr>
      </p:pic>
      <p:pic>
        <p:nvPicPr>
          <p:cNvPr id="7" name="Image 3" descr="/private/tmp/claude-501/-Users-liamperezliberman-saas-industrial/c1c174a3-f611-49b4-97d0-435e2edb4893/scratchpad/deck/e-paso.png">    </p:cNvPr>
          <p:cNvPicPr>
            <a:picLocks noChangeAspect="1"/>
          </p:cNvPicPr>
          <p:nvPr/>
        </p:nvPicPr>
        <p:blipFill>
          <a:blip r:embed="rId4"/>
          <a:stretch>
            <a:fillRect/>
          </a:stretch>
        </p:blipFill>
        <p:spPr>
          <a:xfrm>
            <a:off x="457200" y="3960039"/>
            <a:ext cx="4754880" cy="940458"/>
          </a:xfrm>
          <a:prstGeom prst="rect">
            <a:avLst/>
          </a:prstGeom>
        </p:spPr>
      </p:pic>
      <p:sp>
        <p:nvSpPr>
          <p:cNvPr id="8" name="Shape 2"/>
          <p:cNvSpPr/>
          <p:nvPr/>
        </p:nvSpPr>
        <p:spPr>
          <a:xfrm>
            <a:off x="5852160" y="1901952"/>
            <a:ext cx="292608" cy="292608"/>
          </a:xfrm>
          <a:prstGeom prst="ellipse">
            <a:avLst/>
          </a:prstGeom>
          <a:solidFill>
            <a:srgbClr val="6633E0"/>
          </a:solidFill>
          <a:ln w="12700">
            <a:solidFill>
              <a:srgbClr val="6633E0"/>
            </a:solidFill>
            <a:prstDash val="solid"/>
          </a:ln>
        </p:spPr>
      </p:sp>
      <p:sp>
        <p:nvSpPr>
          <p:cNvPr id="9" name="Text 3"/>
          <p:cNvSpPr txBox="1"/>
          <p:nvPr/>
        </p:nvSpPr>
        <p:spPr>
          <a:xfrm>
            <a:off x="5852160" y="19019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4"/>
          <p:cNvSpPr txBox="1"/>
          <p:nvPr/>
        </p:nvSpPr>
        <p:spPr>
          <a:xfrm>
            <a:off x="6236208" y="1874520"/>
            <a:ext cx="2450592" cy="292608"/>
          </a:xfrm>
          <a:prstGeom prst="rect">
            <a:avLst/>
          </a:prstGeom>
          <a:noFill/>
          <a:ln/>
        </p:spPr>
        <p:txBody>
          <a:bodyPr wrap="square" lIns="0" tIns="0" rIns="0" bIns="0" rtlCol="0" anchor="ctr"/>
          <a:lstStyle/>
          <a:p>
            <a:pPr indent="0" marL="0">
              <a:buNone/>
            </a:pPr>
            <a:r>
              <a:rPr lang="en-US" sz="1300" b="1" dirty="0">
                <a:solidFill>
                  <a:srgbClr val="0B0B33"/>
                </a:solidFill>
                <a:latin typeface="Arial" pitchFamily="34" charset="0"/>
                <a:ea typeface="Arial" pitchFamily="34" charset="-122"/>
                <a:cs typeface="Arial" pitchFamily="34" charset="-120"/>
              </a:rPr>
              <a:t>Cabecera y código</a:t>
            </a:r>
            <a:endParaRPr lang="en-US" sz="1300" dirty="0"/>
          </a:p>
        </p:txBody>
      </p:sp>
      <p:sp>
        <p:nvSpPr>
          <p:cNvPr id="11" name="Text 5"/>
          <p:cNvSpPr txBox="1"/>
          <p:nvPr/>
        </p:nvSpPr>
        <p:spPr>
          <a:xfrm>
            <a:off x="6236208" y="2185416"/>
            <a:ext cx="2450592" cy="457200"/>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Sección, máquina, edición, fecha e historial de revisiones.</a:t>
            </a:r>
            <a:endParaRPr lang="en-US" sz="1050" dirty="0"/>
          </a:p>
        </p:txBody>
      </p:sp>
      <p:sp>
        <p:nvSpPr>
          <p:cNvPr id="12" name="Shape 6"/>
          <p:cNvSpPr/>
          <p:nvPr/>
        </p:nvSpPr>
        <p:spPr>
          <a:xfrm>
            <a:off x="5852160" y="2770632"/>
            <a:ext cx="292608" cy="292608"/>
          </a:xfrm>
          <a:prstGeom prst="ellipse">
            <a:avLst/>
          </a:prstGeom>
          <a:solidFill>
            <a:srgbClr val="6633E0"/>
          </a:solidFill>
          <a:ln w="12700">
            <a:solidFill>
              <a:srgbClr val="6633E0"/>
            </a:solidFill>
            <a:prstDash val="solid"/>
          </a:ln>
        </p:spPr>
      </p:sp>
      <p:sp>
        <p:nvSpPr>
          <p:cNvPr id="13" name="Text 7"/>
          <p:cNvSpPr txBox="1"/>
          <p:nvPr/>
        </p:nvSpPr>
        <p:spPr>
          <a:xfrm>
            <a:off x="5852160" y="27706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4" name="Text 8"/>
          <p:cNvSpPr txBox="1"/>
          <p:nvPr/>
        </p:nvSpPr>
        <p:spPr>
          <a:xfrm>
            <a:off x="6236208" y="2743200"/>
            <a:ext cx="2450592" cy="292608"/>
          </a:xfrm>
          <a:prstGeom prst="rect">
            <a:avLst/>
          </a:prstGeom>
          <a:noFill/>
          <a:ln/>
        </p:spPr>
        <p:txBody>
          <a:bodyPr wrap="square" lIns="0" tIns="0" rIns="0" bIns="0" rtlCol="0" anchor="ctr"/>
          <a:lstStyle/>
          <a:p>
            <a:pPr indent="0" marL="0">
              <a:buNone/>
            </a:pPr>
            <a:r>
              <a:rPr lang="en-US" sz="1300" b="1" dirty="0">
                <a:solidFill>
                  <a:srgbClr val="0B0B33"/>
                </a:solidFill>
                <a:latin typeface="Arial" pitchFamily="34" charset="0"/>
                <a:ea typeface="Arial" pitchFamily="34" charset="-122"/>
                <a:cs typeface="Arial" pitchFamily="34" charset="-120"/>
              </a:rPr>
              <a:t>Mandos numerados</a:t>
            </a:r>
            <a:endParaRPr lang="en-US" sz="1300" dirty="0"/>
          </a:p>
        </p:txBody>
      </p:sp>
      <p:sp>
        <p:nvSpPr>
          <p:cNvPr id="15" name="Text 9"/>
          <p:cNvSpPr txBox="1"/>
          <p:nvPr/>
        </p:nvSpPr>
        <p:spPr>
          <a:xfrm>
            <a:off x="6236208" y="3054096"/>
            <a:ext cx="2450592" cy="457200"/>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Cada botón con su foto y para qué sirve. Sale del vídeo.</a:t>
            </a:r>
            <a:endParaRPr lang="en-US" sz="1050" dirty="0"/>
          </a:p>
        </p:txBody>
      </p:sp>
      <p:sp>
        <p:nvSpPr>
          <p:cNvPr id="16" name="Shape 10"/>
          <p:cNvSpPr/>
          <p:nvPr/>
        </p:nvSpPr>
        <p:spPr>
          <a:xfrm>
            <a:off x="5852160" y="3639312"/>
            <a:ext cx="292608" cy="292608"/>
          </a:xfrm>
          <a:prstGeom prst="ellipse">
            <a:avLst/>
          </a:prstGeom>
          <a:solidFill>
            <a:srgbClr val="6633E0"/>
          </a:solidFill>
          <a:ln w="12700">
            <a:solidFill>
              <a:srgbClr val="6633E0"/>
            </a:solidFill>
            <a:prstDash val="solid"/>
          </a:ln>
        </p:spPr>
      </p:sp>
      <p:sp>
        <p:nvSpPr>
          <p:cNvPr id="17" name="Text 11"/>
          <p:cNvSpPr txBox="1"/>
          <p:nvPr/>
        </p:nvSpPr>
        <p:spPr>
          <a:xfrm>
            <a:off x="5852160" y="36393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2"/>
          <p:cNvSpPr txBox="1"/>
          <p:nvPr/>
        </p:nvSpPr>
        <p:spPr>
          <a:xfrm>
            <a:off x="6236208" y="3611880"/>
            <a:ext cx="2450592" cy="292608"/>
          </a:xfrm>
          <a:prstGeom prst="rect">
            <a:avLst/>
          </a:prstGeom>
          <a:noFill/>
          <a:ln/>
        </p:spPr>
        <p:txBody>
          <a:bodyPr wrap="square" lIns="0" tIns="0" rIns="0" bIns="0" rtlCol="0" anchor="ctr"/>
          <a:lstStyle/>
          <a:p>
            <a:pPr indent="0" marL="0">
              <a:buNone/>
            </a:pPr>
            <a:r>
              <a:rPr lang="en-US" sz="1300" b="1" dirty="0">
                <a:solidFill>
                  <a:srgbClr val="0B0B33"/>
                </a:solidFill>
                <a:latin typeface="Arial" pitchFamily="34" charset="0"/>
                <a:ea typeface="Arial" pitchFamily="34" charset="-122"/>
                <a:cs typeface="Arial" pitchFamily="34" charset="-120"/>
              </a:rPr>
              <a:t>Cada paso, con su minuto</a:t>
            </a:r>
            <a:endParaRPr lang="en-US" sz="1300" dirty="0"/>
          </a:p>
        </p:txBody>
      </p:sp>
      <p:sp>
        <p:nvSpPr>
          <p:cNvPr id="19" name="Text 13"/>
          <p:cNvSpPr txBox="1"/>
          <p:nvPr/>
        </p:nvSpPr>
        <p:spPr>
          <a:xfrm>
            <a:off x="6236208" y="3922776"/>
            <a:ext cx="2450592" cy="457200"/>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0:12 · El que entra nuevo no lee: ve al compañero hacerlo.</a:t>
            </a:r>
            <a:endParaRPr lang="en-US" sz="1050" dirty="0"/>
          </a:p>
        </p:txBody>
      </p:sp>
      <p:sp>
        <p:nvSpPr>
          <p:cNvPr id="20" name="Shape 14"/>
          <p:cNvSpPr/>
          <p:nvPr/>
        </p:nvSpPr>
        <p:spPr>
          <a:xfrm>
            <a:off x="5852160" y="4526280"/>
            <a:ext cx="2834640" cy="411480"/>
          </a:xfrm>
          <a:prstGeom prst="roundRect">
            <a:avLst>
              <a:gd name="adj" fmla="val 22222"/>
            </a:avLst>
          </a:prstGeom>
          <a:solidFill>
            <a:srgbClr val="2A66DB"/>
          </a:solidFill>
          <a:ln w="12700">
            <a:solidFill>
              <a:srgbClr val="2A66DB"/>
            </a:solidFill>
            <a:prstDash val="solid"/>
          </a:ln>
        </p:spPr>
      </p:sp>
      <p:sp>
        <p:nvSpPr>
          <p:cNvPr id="21" name="Text 15">
            <a:hlinkClick r:id="rId5" tooltip="https://l1yac.github.io/mapealo/demo-ale/ejemplo-documento-terminado.pdf"/>
          </p:cNvPr>
          <p:cNvSpPr txBox="1"/>
          <p:nvPr/>
        </p:nvSpPr>
        <p:spPr>
          <a:xfrm>
            <a:off x="5852160" y="4526280"/>
            <a:ext cx="2834640" cy="411480"/>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5" invalidUrl="" action="" tgtFrame="" tooltip="https://l1yac.github.io/mapealo/demo-ale/ejemplo-documento-terminado.pdf" history="1" highlightClick="0" endSnd="0">
                  <a:extLst>
                    <a:ext uri="{A12FA001-AC4F-418D-AE19-62706E023703}">
                      <ahyp:hlinkClr xmlns:ahyp="http://schemas.microsoft.com/office/drawing/2018/hyperlinkcolor" val="tx"/>
                    </a:ext>
                  </a:extLst>
                </a:hlinkClick>
              </a:rPr>
              <a:t>Abrir el documento entero (PDF) ↗</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Users/liamperezliberman/saas industrial/marca/logo-color.png">    </p:cNvPr>
          <p:cNvPicPr>
            <a:picLocks noChangeAspect="1"/>
          </p:cNvPicPr>
          <p:nvPr/>
        </p:nvPicPr>
        <p:blipFill>
          <a:blip r:embed="rId1"/>
          <a:stretch>
            <a:fillRect/>
          </a:stretch>
        </p:blipFill>
        <p:spPr>
          <a:xfrm>
            <a:off x="457200" y="292608"/>
            <a:ext cx="685414" cy="384048"/>
          </a:xfrm>
          <a:prstGeom prst="rect">
            <a:avLst/>
          </a:prstGeom>
        </p:spPr>
      </p:pic>
      <p:sp>
        <p:nvSpPr>
          <p:cNvPr id="3" name="Text 0"/>
          <p:cNvSpPr txBox="1"/>
          <p:nvPr/>
        </p:nvSpPr>
        <p:spPr>
          <a:xfrm>
            <a:off x="457200" y="777240"/>
            <a:ext cx="8229600" cy="640080"/>
          </a:xfrm>
          <a:prstGeom prst="rect">
            <a:avLst/>
          </a:prstGeom>
          <a:noFill/>
          <a:ln/>
        </p:spPr>
        <p:txBody>
          <a:bodyPr wrap="square" lIns="0" tIns="0" rIns="0" bIns="0" rtlCol="0" anchor="t"/>
          <a:lstStyle/>
          <a:p>
            <a:pPr indent="0" marL="0">
              <a:buNone/>
            </a:pPr>
            <a:r>
              <a:rPr lang="en-US" sz="3000" b="1" dirty="0">
                <a:solidFill>
                  <a:srgbClr val="0B0B33"/>
                </a:solidFill>
                <a:latin typeface="Arial" pitchFamily="34" charset="0"/>
                <a:ea typeface="Arial" pitchFamily="34" charset="-122"/>
                <a:cs typeface="Arial" pitchFamily="34" charset="-120"/>
              </a:rPr>
              <a:t>Y el mismo documento, recién salido</a:t>
            </a:r>
            <a:endParaRPr lang="en-US" sz="3000" dirty="0"/>
          </a:p>
        </p:txBody>
      </p:sp>
      <p:sp>
        <p:nvSpPr>
          <p:cNvPr id="4" name="Text 1"/>
          <p:cNvSpPr txBox="1"/>
          <p:nvPr/>
        </p:nvSpPr>
        <p:spPr>
          <a:xfrm>
            <a:off x="457200" y="1371600"/>
            <a:ext cx="8229600" cy="365760"/>
          </a:xfrm>
          <a:prstGeom prst="rect">
            <a:avLst/>
          </a:prstGeom>
          <a:noFill/>
          <a:ln/>
        </p:spPr>
        <p:txBody>
          <a:bodyPr wrap="square" lIns="0" tIns="0" rIns="0" bIns="0" rtlCol="0" anchor="t"/>
          <a:lstStyle/>
          <a:p>
            <a:pPr indent="0" marL="0">
              <a:buNone/>
            </a:pPr>
            <a:r>
              <a:rPr lang="en-US" sz="1400" dirty="0">
                <a:solidFill>
                  <a:srgbClr val="5A5F7D"/>
                </a:solidFill>
                <a:latin typeface="Arial" pitchFamily="34" charset="0"/>
                <a:ea typeface="Arial" pitchFamily="34" charset="-122"/>
                <a:cs typeface="Arial" pitchFamily="34" charset="-120"/>
              </a:rPr>
              <a:t>Antes de que Calidad lo cierre, así llega: lo que el operario no contó queda en amarillo, y el documento no se puede aprobar hasta rellenarlo.</a:t>
            </a:r>
            <a:endParaRPr lang="en-US" sz="1400" dirty="0"/>
          </a:p>
        </p:txBody>
      </p:sp>
      <p:pic>
        <p:nvPicPr>
          <p:cNvPr id="5" name="Image 1" descr="/private/tmp/claude-501/-Users-liamperezliberman-saas-industrial/c1c174a3-f611-49b4-97d0-435e2edb4893/scratchpad/deck/c-seguridad.png">    </p:cNvPr>
          <p:cNvPicPr>
            <a:picLocks noChangeAspect="1"/>
          </p:cNvPicPr>
          <p:nvPr/>
        </p:nvPicPr>
        <p:blipFill>
          <a:blip r:embed="rId2"/>
          <a:stretch>
            <a:fillRect/>
          </a:stretch>
        </p:blipFill>
        <p:spPr>
          <a:xfrm>
            <a:off x="640556" y="1874520"/>
            <a:ext cx="5119688" cy="1143000"/>
          </a:xfrm>
          <a:prstGeom prst="rect">
            <a:avLst/>
          </a:prstGeom>
        </p:spPr>
      </p:pic>
      <p:pic>
        <p:nvPicPr>
          <p:cNvPr id="6" name="Image 2" descr="/private/tmp/claude-501/-Users-liamperezliberman-saas-industrial/c1c174a3-f611-49b4-97d0-435e2edb4893/scratchpad/deck/c-mandos.png">    </p:cNvPr>
          <p:cNvPicPr>
            <a:picLocks noChangeAspect="1"/>
          </p:cNvPicPr>
          <p:nvPr/>
        </p:nvPicPr>
        <p:blipFill>
          <a:blip r:embed="rId3"/>
          <a:stretch>
            <a:fillRect/>
          </a:stretch>
        </p:blipFill>
        <p:spPr>
          <a:xfrm>
            <a:off x="849815" y="3108960"/>
            <a:ext cx="4701170" cy="1280160"/>
          </a:xfrm>
          <a:prstGeom prst="rect">
            <a:avLst/>
          </a:prstGeom>
        </p:spPr>
      </p:pic>
      <p:sp>
        <p:nvSpPr>
          <p:cNvPr id="7" name="Shape 2"/>
          <p:cNvSpPr/>
          <p:nvPr/>
        </p:nvSpPr>
        <p:spPr>
          <a:xfrm>
            <a:off x="457200" y="4526280"/>
            <a:ext cx="2651760" cy="411480"/>
          </a:xfrm>
          <a:prstGeom prst="roundRect">
            <a:avLst>
              <a:gd name="adj" fmla="val 22222"/>
            </a:avLst>
          </a:prstGeom>
          <a:solidFill>
            <a:srgbClr val="0B0B33"/>
          </a:solidFill>
          <a:ln w="12700">
            <a:solidFill>
              <a:srgbClr val="0B0B33"/>
            </a:solidFill>
            <a:prstDash val="solid"/>
          </a:ln>
        </p:spPr>
      </p:sp>
      <p:sp>
        <p:nvSpPr>
          <p:cNvPr id="8" name="Text 3">
            <a:hlinkClick r:id="rId4" tooltip="https://l1yac.github.io/mapealo/m/cortado/manual.pdf"/>
          </p:cNvPr>
          <p:cNvSpPr txBox="1"/>
          <p:nvPr/>
        </p:nvSpPr>
        <p:spPr>
          <a:xfrm>
            <a:off x="457200" y="4526280"/>
            <a:ext cx="2651760" cy="411480"/>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4" invalidUrl="" action="" tgtFrame="" tooltip="https://l1yac.github.io/mapealo/m/cortado/manual.pdf" history="1" highlightClick="0" endSnd="0">
                  <a:extLst>
                    <a:ext uri="{A12FA001-AC4F-418D-AE19-62706E023703}">
                      <ahyp:hlinkClr xmlns:ahyp="http://schemas.microsoft.com/office/drawing/2018/hyperlinkcolor" val="tx"/>
                    </a:ext>
                  </a:extLst>
                </a:hlinkClick>
              </a:rPr>
              <a:t>Abrir el documento real (PDF) ↗</a:t>
            </a:r>
            <a:endParaRPr lang="en-US" sz="1150" dirty="0"/>
          </a:p>
        </p:txBody>
      </p:sp>
      <p:sp>
        <p:nvSpPr>
          <p:cNvPr id="9" name="Shape 4"/>
          <p:cNvSpPr/>
          <p:nvPr/>
        </p:nvSpPr>
        <p:spPr>
          <a:xfrm>
            <a:off x="6217920" y="1965960"/>
            <a:ext cx="2468880" cy="2697480"/>
          </a:xfrm>
          <a:prstGeom prst="roundRect">
            <a:avLst>
              <a:gd name="adj" fmla="val 4444"/>
            </a:avLst>
          </a:prstGeom>
          <a:solidFill>
            <a:srgbClr val="FDF3DC"/>
          </a:solidFill>
          <a:ln w="9525">
            <a:solidFill>
              <a:srgbClr val="D8D8E6"/>
            </a:solidFill>
            <a:prstDash val="solid"/>
          </a:ln>
        </p:spPr>
      </p:sp>
      <p:sp>
        <p:nvSpPr>
          <p:cNvPr id="10" name="Text 5"/>
          <p:cNvSpPr txBox="1"/>
          <p:nvPr/>
        </p:nvSpPr>
        <p:spPr>
          <a:xfrm>
            <a:off x="6217920" y="2103120"/>
            <a:ext cx="2468880" cy="1005840"/>
          </a:xfrm>
          <a:prstGeom prst="rect">
            <a:avLst/>
          </a:prstGeom>
          <a:noFill/>
          <a:ln/>
        </p:spPr>
        <p:txBody>
          <a:bodyPr wrap="square" lIns="0" tIns="0" rIns="0" bIns="0" rtlCol="0" anchor="ctr"/>
          <a:lstStyle/>
          <a:p>
            <a:pPr algn="ctr" indent="0" marL="0">
              <a:buNone/>
            </a:pPr>
            <a:r>
              <a:rPr lang="en-US" sz="6400" b="1" dirty="0">
                <a:solidFill>
                  <a:srgbClr val="B57D00"/>
                </a:solidFill>
                <a:latin typeface="Arial" pitchFamily="34" charset="0"/>
                <a:ea typeface="Arial" pitchFamily="34" charset="-122"/>
                <a:cs typeface="Arial" pitchFamily="34" charset="-120"/>
              </a:rPr>
              <a:t>16</a:t>
            </a:r>
            <a:endParaRPr lang="en-US" sz="6400" dirty="0"/>
          </a:p>
        </p:txBody>
      </p:sp>
      <p:sp>
        <p:nvSpPr>
          <p:cNvPr id="11" name="Text 6"/>
          <p:cNvSpPr txBox="1"/>
          <p:nvPr/>
        </p:nvSpPr>
        <p:spPr>
          <a:xfrm>
            <a:off x="6400800" y="3108960"/>
            <a:ext cx="2103120" cy="640080"/>
          </a:xfrm>
          <a:prstGeom prst="rect">
            <a:avLst/>
          </a:prstGeom>
          <a:noFill/>
          <a:ln/>
        </p:spPr>
        <p:txBody>
          <a:bodyPr wrap="square" lIns="0" tIns="0" rIns="0" bIns="0" rtlCol="0" anchor="t"/>
          <a:lstStyle/>
          <a:p>
            <a:pPr algn="ctr" indent="0" marL="0">
              <a:buNone/>
            </a:pPr>
            <a:r>
              <a:rPr lang="en-US" sz="1200" dirty="0">
                <a:solidFill>
                  <a:srgbClr val="0B0B33"/>
                </a:solidFill>
                <a:latin typeface="Arial" pitchFamily="34" charset="0"/>
                <a:ea typeface="Arial" pitchFamily="34" charset="-122"/>
                <a:cs typeface="Arial" pitchFamily="34" charset="-120"/>
              </a:rPr>
              <a:t>campos en amarillo en un proceso que llevan 20 años haciendo</a:t>
            </a:r>
            <a:endParaRPr lang="en-US" sz="1200" dirty="0"/>
          </a:p>
        </p:txBody>
      </p:sp>
      <p:sp>
        <p:nvSpPr>
          <p:cNvPr id="12" name="Text 7"/>
          <p:cNvSpPr txBox="1"/>
          <p:nvPr/>
        </p:nvSpPr>
        <p:spPr>
          <a:xfrm>
            <a:off x="6400800" y="3840480"/>
            <a:ext cx="2103120" cy="685800"/>
          </a:xfrm>
          <a:prstGeom prst="rect">
            <a:avLst/>
          </a:prstGeom>
          <a:noFill/>
          <a:ln/>
        </p:spPr>
        <p:txBody>
          <a:bodyPr wrap="square" lIns="0" tIns="0" rIns="0" bIns="0" rtlCol="0" anchor="t"/>
          <a:lstStyle/>
          <a:p>
            <a:pPr algn="ctr" indent="0" marL="0">
              <a:buNone/>
            </a:pPr>
            <a:r>
              <a:rPr lang="en-US" sz="1300" b="1" dirty="0">
                <a:solidFill>
                  <a:srgbClr val="6633E0"/>
                </a:solidFill>
                <a:latin typeface="Arial" pitchFamily="34" charset="0"/>
                <a:ea typeface="Arial" pitchFamily="34" charset="-122"/>
                <a:cs typeface="Arial" pitchFamily="34" charset="-120"/>
              </a:rPr>
              <a:t>¿Cuántos saldrían en vuestra máquina?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Users/liamperezliberman/saas industrial/marca/logo-color.png">    </p:cNvPr>
          <p:cNvPicPr>
            <a:picLocks noChangeAspect="1"/>
          </p:cNvPicPr>
          <p:nvPr/>
        </p:nvPicPr>
        <p:blipFill>
          <a:blip r:embed="rId1"/>
          <a:stretch>
            <a:fillRect/>
          </a:stretch>
        </p:blipFill>
        <p:spPr>
          <a:xfrm>
            <a:off x="457200" y="292608"/>
            <a:ext cx="685414" cy="384048"/>
          </a:xfrm>
          <a:prstGeom prst="rect">
            <a:avLst/>
          </a:prstGeom>
        </p:spPr>
      </p:pic>
      <p:sp>
        <p:nvSpPr>
          <p:cNvPr id="3" name="Text 0"/>
          <p:cNvSpPr txBox="1"/>
          <p:nvPr/>
        </p:nvSpPr>
        <p:spPr>
          <a:xfrm>
            <a:off x="457200" y="777240"/>
            <a:ext cx="8229600" cy="640080"/>
          </a:xfrm>
          <a:prstGeom prst="rect">
            <a:avLst/>
          </a:prstGeom>
          <a:noFill/>
          <a:ln/>
        </p:spPr>
        <p:txBody>
          <a:bodyPr wrap="square" lIns="0" tIns="0" rIns="0" bIns="0" rtlCol="0" anchor="t"/>
          <a:lstStyle/>
          <a:p>
            <a:pPr indent="0" marL="0">
              <a:buNone/>
            </a:pPr>
            <a:r>
              <a:rPr lang="en-US" sz="3000" b="1" dirty="0">
                <a:solidFill>
                  <a:srgbClr val="0B0B33"/>
                </a:solidFill>
                <a:latin typeface="Arial" pitchFamily="34" charset="0"/>
                <a:ea typeface="Arial" pitchFamily="34" charset="-122"/>
                <a:cs typeface="Arial" pitchFamily="34" charset="-120"/>
              </a:rPr>
              <a:t>Dónde queda guardado y cómo se llega</a:t>
            </a:r>
            <a:endParaRPr lang="en-US" sz="3000" dirty="0"/>
          </a:p>
        </p:txBody>
      </p:sp>
      <p:sp>
        <p:nvSpPr>
          <p:cNvPr id="4" name="Text 1"/>
          <p:cNvSpPr txBox="1"/>
          <p:nvPr/>
        </p:nvSpPr>
        <p:spPr>
          <a:xfrm>
            <a:off x="457200" y="1371600"/>
            <a:ext cx="8229600" cy="365760"/>
          </a:xfrm>
          <a:prstGeom prst="rect">
            <a:avLst/>
          </a:prstGeom>
          <a:noFill/>
          <a:ln/>
        </p:spPr>
        <p:txBody>
          <a:bodyPr wrap="square" lIns="0" tIns="0" rIns="0" bIns="0" rtlCol="0" anchor="t"/>
          <a:lstStyle/>
          <a:p>
            <a:pPr indent="0" marL="0">
              <a:buNone/>
            </a:pPr>
            <a:r>
              <a:rPr lang="en-US" sz="1400" dirty="0">
                <a:solidFill>
                  <a:srgbClr val="5A5F7D"/>
                </a:solidFill>
                <a:latin typeface="Arial" pitchFamily="34" charset="0"/>
                <a:ea typeface="Arial" pitchFamily="34" charset="-122"/>
                <a:cs typeface="Arial" pitchFamily="34" charset="-120"/>
              </a:rPr>
              <a:t>Cada manual vive en vuestro repositorio. En la máquina, un QR; en la oficina, la app.</a:t>
            </a:r>
            <a:endParaRPr lang="en-US" sz="1400" dirty="0"/>
          </a:p>
        </p:txBody>
      </p:sp>
      <p:pic>
        <p:nvPicPr>
          <p:cNvPr id="5" name="Image 1" descr="/Users/liamperezliberman/saas industrial/demo-video/capturas/p-inicio.png">    </p:cNvPr>
          <p:cNvPicPr>
            <a:picLocks noChangeAspect="1"/>
          </p:cNvPicPr>
          <p:nvPr/>
        </p:nvPicPr>
        <p:blipFill>
          <a:blip r:embed="rId2"/>
          <a:stretch>
            <a:fillRect/>
          </a:stretch>
        </p:blipFill>
        <p:spPr>
          <a:xfrm>
            <a:off x="461264" y="1920240"/>
            <a:ext cx="1363472" cy="2788920"/>
          </a:xfrm>
          <a:prstGeom prst="rect">
            <a:avLst/>
          </a:prstGeom>
        </p:spPr>
      </p:pic>
      <p:pic>
        <p:nvPicPr>
          <p:cNvPr id="6" name="Image 2" descr="/Users/liamperezliberman/saas industrial/demo-video/capturas/p-manual.png">    </p:cNvPr>
          <p:cNvPicPr>
            <a:picLocks noChangeAspect="1"/>
          </p:cNvPicPr>
          <p:nvPr/>
        </p:nvPicPr>
        <p:blipFill>
          <a:blip r:embed="rId3"/>
          <a:stretch>
            <a:fillRect/>
          </a:stretch>
        </p:blipFill>
        <p:spPr>
          <a:xfrm>
            <a:off x="1924304" y="1920240"/>
            <a:ext cx="1363472" cy="2788920"/>
          </a:xfrm>
          <a:prstGeom prst="rect">
            <a:avLst/>
          </a:prstGeom>
        </p:spPr>
      </p:pic>
      <p:pic>
        <p:nvPicPr>
          <p:cNvPr id="7" name="Image 3" descr="/private/tmp/claude-501/-Users-liamperezliberman-saas-industrial/c1c174a3-f611-49b4-97d0-435e2edb4893/scratchpad/deck/c-qr.png">    </p:cNvPr>
          <p:cNvPicPr>
            <a:picLocks noChangeAspect="1"/>
          </p:cNvPicPr>
          <p:nvPr/>
        </p:nvPicPr>
        <p:blipFill>
          <a:blip r:embed="rId4"/>
          <a:stretch>
            <a:fillRect/>
          </a:stretch>
        </p:blipFill>
        <p:spPr>
          <a:xfrm>
            <a:off x="3572047" y="1920240"/>
            <a:ext cx="5108866" cy="1014984"/>
          </a:xfrm>
          <a:prstGeom prst="rect">
            <a:avLst/>
          </a:prstGeom>
        </p:spPr>
      </p:pic>
      <p:sp>
        <p:nvSpPr>
          <p:cNvPr id="8" name="Text 2"/>
          <p:cNvSpPr txBox="1"/>
          <p:nvPr/>
        </p:nvSpPr>
        <p:spPr>
          <a:xfrm>
            <a:off x="3566160" y="3108960"/>
            <a:ext cx="1188720" cy="548640"/>
          </a:xfrm>
          <a:prstGeom prst="rect">
            <a:avLst/>
          </a:prstGeom>
          <a:noFill/>
          <a:ln/>
        </p:spPr>
        <p:txBody>
          <a:bodyPr wrap="square" lIns="0" tIns="0" rIns="0" bIns="0" rtlCol="0" anchor="t"/>
          <a:lstStyle/>
          <a:p>
            <a:pPr indent="0" marL="0">
              <a:buNone/>
            </a:pPr>
            <a:r>
              <a:rPr lang="en-US" sz="1250" b="1" dirty="0">
                <a:solidFill>
                  <a:srgbClr val="0B0B33"/>
                </a:solidFill>
                <a:latin typeface="Arial" pitchFamily="34" charset="0"/>
                <a:ea typeface="Arial" pitchFamily="34" charset="-122"/>
                <a:cs typeface="Arial" pitchFamily="34" charset="-120"/>
              </a:rPr>
              <a:t>En la máquina</a:t>
            </a:r>
            <a:endParaRPr lang="en-US" sz="1250" dirty="0"/>
          </a:p>
        </p:txBody>
      </p:sp>
      <p:sp>
        <p:nvSpPr>
          <p:cNvPr id="9" name="Text 3"/>
          <p:cNvSpPr txBox="1"/>
          <p:nvPr/>
        </p:nvSpPr>
        <p:spPr>
          <a:xfrm>
            <a:off x="4800600" y="3108960"/>
            <a:ext cx="3886200" cy="548640"/>
          </a:xfrm>
          <a:prstGeom prst="rect">
            <a:avLst/>
          </a:prstGeom>
          <a:noFill/>
          <a:ln/>
        </p:spPr>
        <p:txBody>
          <a:bodyPr wrap="square" lIns="0" tIns="0" rIns="0" bIns="0" rtlCol="0" anchor="t"/>
          <a:lstStyle/>
          <a:p>
            <a:pPr indent="0" marL="0">
              <a:buNone/>
            </a:pPr>
            <a:r>
              <a:rPr lang="en-US" sz="1100" dirty="0">
                <a:solidFill>
                  <a:srgbClr val="5A5F7D"/>
                </a:solidFill>
                <a:latin typeface="Arial" pitchFamily="34" charset="0"/>
                <a:ea typeface="Arial" pitchFamily="34" charset="-122"/>
                <a:cs typeface="Arial" pitchFamily="34" charset="-120"/>
              </a:rPr>
              <a:t>El QR pegado en la máquina abre el manual y el vídeo desde el móvil del operario.</a:t>
            </a:r>
            <a:endParaRPr lang="en-US" sz="1100" dirty="0"/>
          </a:p>
        </p:txBody>
      </p:sp>
      <p:sp>
        <p:nvSpPr>
          <p:cNvPr id="10" name="Text 4"/>
          <p:cNvSpPr txBox="1"/>
          <p:nvPr/>
        </p:nvSpPr>
        <p:spPr>
          <a:xfrm>
            <a:off x="3566160" y="3767328"/>
            <a:ext cx="1188720" cy="548640"/>
          </a:xfrm>
          <a:prstGeom prst="rect">
            <a:avLst/>
          </a:prstGeom>
          <a:noFill/>
          <a:ln/>
        </p:spPr>
        <p:txBody>
          <a:bodyPr wrap="square" lIns="0" tIns="0" rIns="0" bIns="0" rtlCol="0" anchor="t"/>
          <a:lstStyle/>
          <a:p>
            <a:pPr indent="0" marL="0">
              <a:buNone/>
            </a:pPr>
            <a:r>
              <a:rPr lang="en-US" sz="1250" b="1" dirty="0">
                <a:solidFill>
                  <a:srgbClr val="0B0B33"/>
                </a:solidFill>
                <a:latin typeface="Arial" pitchFamily="34" charset="0"/>
                <a:ea typeface="Arial" pitchFamily="34" charset="-122"/>
                <a:cs typeface="Arial" pitchFamily="34" charset="-120"/>
              </a:rPr>
              <a:t>En la oficina</a:t>
            </a:r>
            <a:endParaRPr lang="en-US" sz="1250" dirty="0"/>
          </a:p>
        </p:txBody>
      </p:sp>
      <p:sp>
        <p:nvSpPr>
          <p:cNvPr id="11" name="Text 5"/>
          <p:cNvSpPr txBox="1"/>
          <p:nvPr/>
        </p:nvSpPr>
        <p:spPr>
          <a:xfrm>
            <a:off x="4800600" y="3767328"/>
            <a:ext cx="3886200" cy="548640"/>
          </a:xfrm>
          <a:prstGeom prst="rect">
            <a:avLst/>
          </a:prstGeom>
          <a:noFill/>
          <a:ln/>
        </p:spPr>
        <p:txBody>
          <a:bodyPr wrap="square" lIns="0" tIns="0" rIns="0" bIns="0" rtlCol="0" anchor="t"/>
          <a:lstStyle/>
          <a:p>
            <a:pPr indent="0" marL="0">
              <a:buNone/>
            </a:pPr>
            <a:r>
              <a:rPr lang="en-US" sz="1100" dirty="0">
                <a:solidFill>
                  <a:srgbClr val="5A5F7D"/>
                </a:solidFill>
                <a:latin typeface="Arial" pitchFamily="34" charset="0"/>
                <a:ea typeface="Arial" pitchFamily="34" charset="-122"/>
                <a:cs typeface="Arial" pitchFamily="34" charset="-120"/>
              </a:rPr>
              <a:t>La app guarda todos los manuales por sección y máquina. PDF, volcado a Excel, correo, WhatsApp, QR.</a:t>
            </a:r>
            <a:endParaRPr lang="en-US" sz="1100" dirty="0"/>
          </a:p>
        </p:txBody>
      </p:sp>
      <p:sp>
        <p:nvSpPr>
          <p:cNvPr id="12" name="Shape 6"/>
          <p:cNvSpPr/>
          <p:nvPr/>
        </p:nvSpPr>
        <p:spPr>
          <a:xfrm>
            <a:off x="3566160" y="4434840"/>
            <a:ext cx="1600200" cy="384048"/>
          </a:xfrm>
          <a:prstGeom prst="roundRect">
            <a:avLst>
              <a:gd name="adj" fmla="val 23810"/>
            </a:avLst>
          </a:prstGeom>
          <a:solidFill>
            <a:srgbClr val="6633E0"/>
          </a:solidFill>
          <a:ln w="12700">
            <a:solidFill>
              <a:srgbClr val="6633E0"/>
            </a:solidFill>
            <a:prstDash val="solid"/>
          </a:ln>
        </p:spPr>
      </p:sp>
      <p:sp>
        <p:nvSpPr>
          <p:cNvPr id="13" name="Text 7">
            <a:hlinkClick r:id="rId5" tooltip="https://l1yac.github.io/mapealo/m/cortado/"/>
          </p:cNvPr>
          <p:cNvSpPr txBox="1"/>
          <p:nvPr/>
        </p:nvSpPr>
        <p:spPr>
          <a:xfrm>
            <a:off x="3566160" y="4434840"/>
            <a:ext cx="1600200" cy="384048"/>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5" invalidUrl="" action="" tgtFrame="" tooltip="https://l1yac.github.io/mapealo/m/cortado/" history="1" highlightClick="0" endSnd="0">
                  <a:extLst>
                    <a:ext uri="{A12FA001-AC4F-418D-AE19-62706E023703}">
                      <ahyp:hlinkClr xmlns:ahyp="http://schemas.microsoft.com/office/drawing/2018/hyperlinkcolor" val="tx"/>
                    </a:ext>
                  </a:extLst>
                </a:hlinkClick>
              </a:rPr>
              <a:t>Lo que abre el QR ↗</a:t>
            </a:r>
            <a:endParaRPr lang="en-US" sz="1150" dirty="0"/>
          </a:p>
        </p:txBody>
      </p:sp>
      <p:sp>
        <p:nvSpPr>
          <p:cNvPr id="14" name="Shape 8"/>
          <p:cNvSpPr/>
          <p:nvPr/>
        </p:nvSpPr>
        <p:spPr>
          <a:xfrm>
            <a:off x="5257800" y="4434840"/>
            <a:ext cx="2148840" cy="384048"/>
          </a:xfrm>
          <a:prstGeom prst="roundRect">
            <a:avLst>
              <a:gd name="adj" fmla="val 23810"/>
            </a:avLst>
          </a:prstGeom>
          <a:solidFill>
            <a:srgbClr val="2A66DB"/>
          </a:solidFill>
          <a:ln w="12700">
            <a:solidFill>
              <a:srgbClr val="2A66DB"/>
            </a:solidFill>
            <a:prstDash val="solid"/>
          </a:ln>
        </p:spPr>
      </p:sp>
      <p:sp>
        <p:nvSpPr>
          <p:cNvPr id="15" name="Text 9">
            <a:hlinkClick r:id="rId6" tooltip="https://l1yac.github.io/mapealo/app/"/>
          </p:cNvPr>
          <p:cNvSpPr txBox="1"/>
          <p:nvPr/>
        </p:nvSpPr>
        <p:spPr>
          <a:xfrm>
            <a:off x="5257800" y="4434840"/>
            <a:ext cx="2148840" cy="384048"/>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6" invalidUrl="" action="" tgtFrame="" tooltip="https://l1yac.github.io/mapealo/app/" history="1" highlightClick="0" endSnd="0">
                  <a:extLst>
                    <a:ext uri="{A12FA001-AC4F-418D-AE19-62706E023703}">
                      <ahyp:hlinkClr xmlns:ahyp="http://schemas.microsoft.com/office/drawing/2018/hyperlinkcolor" val="tx"/>
                    </a:ext>
                  </a:extLst>
                </a:hlinkClick>
              </a:rPr>
              <a:t>Abrir la app · repositorio ↗</a:t>
            </a:r>
            <a:endParaRPr lang="en-US" sz="1150" dirty="0"/>
          </a:p>
        </p:txBody>
      </p:sp>
      <p:sp>
        <p:nvSpPr>
          <p:cNvPr id="16" name="Shape 10"/>
          <p:cNvSpPr/>
          <p:nvPr/>
        </p:nvSpPr>
        <p:spPr>
          <a:xfrm>
            <a:off x="7498080" y="4434840"/>
            <a:ext cx="1188720" cy="384048"/>
          </a:xfrm>
          <a:prstGeom prst="roundRect">
            <a:avLst>
              <a:gd name="adj" fmla="val 23810"/>
            </a:avLst>
          </a:prstGeom>
          <a:solidFill>
            <a:srgbClr val="0B0B33"/>
          </a:solidFill>
          <a:ln w="12700">
            <a:solidFill>
              <a:srgbClr val="0B0B33"/>
            </a:solidFill>
            <a:prstDash val="solid"/>
          </a:ln>
        </p:spPr>
      </p:sp>
      <p:sp>
        <p:nvSpPr>
          <p:cNvPr id="17" name="Text 11">
            <a:hlinkClick r:id="rId7" tooltip="https://l1yac.github.io/mapealo/"/>
          </p:cNvPr>
          <p:cNvSpPr txBox="1"/>
          <p:nvPr/>
        </p:nvSpPr>
        <p:spPr>
          <a:xfrm>
            <a:off x="7498080" y="4434840"/>
            <a:ext cx="1188720" cy="384048"/>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7" invalidUrl="" action="" tgtFrame="" tooltip="https://l1yac.github.io/mapealo/" history="1" highlightClick="0" endSnd="0">
                  <a:extLst>
                    <a:ext uri="{A12FA001-AC4F-418D-AE19-62706E023703}">
                      <ahyp:hlinkClr xmlns:ahyp="http://schemas.microsoft.com/office/drawing/2018/hyperlinkcolor" val="tx"/>
                    </a:ext>
                  </a:extLst>
                </a:hlinkClick>
              </a:rPr>
              <a:t>Índice ↗</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Users/liamperezliberman/saas industrial/marca/logo-color.png">    </p:cNvPr>
          <p:cNvPicPr>
            <a:picLocks noChangeAspect="1"/>
          </p:cNvPicPr>
          <p:nvPr/>
        </p:nvPicPr>
        <p:blipFill>
          <a:blip r:embed="rId1"/>
          <a:stretch>
            <a:fillRect/>
          </a:stretch>
        </p:blipFill>
        <p:spPr>
          <a:xfrm>
            <a:off x="457200" y="292608"/>
            <a:ext cx="685414" cy="384048"/>
          </a:xfrm>
          <a:prstGeom prst="rect">
            <a:avLst/>
          </a:prstGeom>
        </p:spPr>
      </p:pic>
      <p:sp>
        <p:nvSpPr>
          <p:cNvPr id="3" name="Text 0"/>
          <p:cNvSpPr txBox="1"/>
          <p:nvPr/>
        </p:nvSpPr>
        <p:spPr>
          <a:xfrm>
            <a:off x="457200" y="777240"/>
            <a:ext cx="8229600" cy="640080"/>
          </a:xfrm>
          <a:prstGeom prst="rect">
            <a:avLst/>
          </a:prstGeom>
          <a:noFill/>
          <a:ln/>
        </p:spPr>
        <p:txBody>
          <a:bodyPr wrap="square" lIns="0" tIns="0" rIns="0" bIns="0" rtlCol="0" anchor="t"/>
          <a:lstStyle/>
          <a:p>
            <a:pPr indent="0" marL="0">
              <a:buNone/>
            </a:pPr>
            <a:r>
              <a:rPr lang="en-US" sz="3000" b="1" dirty="0">
                <a:solidFill>
                  <a:srgbClr val="0B0B33"/>
                </a:solidFill>
                <a:latin typeface="Arial" pitchFamily="34" charset="0"/>
                <a:ea typeface="Arial" pitchFamily="34" charset="-122"/>
                <a:cs typeface="Arial" pitchFamily="34" charset="-120"/>
              </a:rPr>
              <a:t>Y para vosotros, ¿qué tendría que tener?</a:t>
            </a:r>
            <a:endParaRPr lang="en-US" sz="3000" dirty="0"/>
          </a:p>
        </p:txBody>
      </p:sp>
      <p:sp>
        <p:nvSpPr>
          <p:cNvPr id="4" name="Text 1"/>
          <p:cNvSpPr txBox="1"/>
          <p:nvPr/>
        </p:nvSpPr>
        <p:spPr>
          <a:xfrm>
            <a:off x="457200" y="1371600"/>
            <a:ext cx="8229600" cy="365760"/>
          </a:xfrm>
          <a:prstGeom prst="rect">
            <a:avLst/>
          </a:prstGeom>
          <a:noFill/>
          <a:ln/>
        </p:spPr>
        <p:txBody>
          <a:bodyPr wrap="square" lIns="0" tIns="0" rIns="0" bIns="0" rtlCol="0" anchor="t"/>
          <a:lstStyle/>
          <a:p>
            <a:pPr indent="0" marL="0">
              <a:buNone/>
            </a:pPr>
            <a:r>
              <a:rPr lang="en-US" sz="1400" dirty="0">
                <a:solidFill>
                  <a:srgbClr val="5A5F7D"/>
                </a:solidFill>
                <a:latin typeface="Arial" pitchFamily="34" charset="0"/>
                <a:ea typeface="Arial" pitchFamily="34" charset="-122"/>
                <a:cs typeface="Arial" pitchFamily="34" charset="-120"/>
              </a:rPr>
              <a:t>Esto es lo que más nos interesa de la reunión. Todo lo que digáis, aunque parezca pequeño, cuenta.</a:t>
            </a:r>
            <a:endParaRPr lang="en-US" sz="1400" dirty="0"/>
          </a:p>
        </p:txBody>
      </p:sp>
      <p:sp>
        <p:nvSpPr>
          <p:cNvPr id="5" name="Shape 2"/>
          <p:cNvSpPr/>
          <p:nvPr/>
        </p:nvSpPr>
        <p:spPr>
          <a:xfrm>
            <a:off x="457200" y="1920240"/>
            <a:ext cx="8229600" cy="603504"/>
          </a:xfrm>
          <a:prstGeom prst="roundRect">
            <a:avLst>
              <a:gd name="adj" fmla="val 18182"/>
            </a:avLst>
          </a:prstGeom>
          <a:solidFill>
            <a:srgbClr val="FDF3DC"/>
          </a:solidFill>
          <a:ln w="9525">
            <a:solidFill>
              <a:srgbClr val="D8D8E6"/>
            </a:solidFill>
            <a:prstDash val="solid"/>
          </a:ln>
        </p:spPr>
      </p:sp>
      <p:sp>
        <p:nvSpPr>
          <p:cNvPr id="6" name="Shape 3"/>
          <p:cNvSpPr/>
          <p:nvPr/>
        </p:nvSpPr>
        <p:spPr>
          <a:xfrm>
            <a:off x="640080" y="2048256"/>
            <a:ext cx="347472" cy="347472"/>
          </a:xfrm>
          <a:prstGeom prst="ellipse">
            <a:avLst/>
          </a:prstGeom>
          <a:solidFill>
            <a:srgbClr val="B57D00"/>
          </a:solidFill>
          <a:ln w="12700">
            <a:solidFill>
              <a:srgbClr val="B57D00"/>
            </a:solidFill>
            <a:prstDash val="solid"/>
          </a:ln>
        </p:spPr>
      </p:sp>
      <p:sp>
        <p:nvSpPr>
          <p:cNvPr id="7" name="Text 4"/>
          <p:cNvSpPr txBox="1"/>
          <p:nvPr/>
        </p:nvSpPr>
        <p:spPr>
          <a:xfrm>
            <a:off x="640080" y="20482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txBox="1"/>
          <p:nvPr/>
        </p:nvSpPr>
        <p:spPr>
          <a:xfrm>
            <a:off x="1143000" y="1920240"/>
            <a:ext cx="7406640" cy="603504"/>
          </a:xfrm>
          <a:prstGeom prst="rect">
            <a:avLst/>
          </a:prstGeom>
          <a:noFill/>
          <a:ln/>
        </p:spPr>
        <p:txBody>
          <a:bodyPr wrap="square" lIns="0" tIns="0" rIns="0" bIns="0" rtlCol="0" anchor="ctr"/>
          <a:lstStyle/>
          <a:p>
            <a:pPr indent="0" marL="0">
              <a:buNone/>
            </a:pPr>
            <a:r>
              <a:rPr lang="en-US" sz="1150" dirty="0">
                <a:solidFill>
                  <a:srgbClr val="5A5F7D"/>
                </a:solidFill>
                <a:latin typeface="Arial" pitchFamily="34" charset="0"/>
                <a:ea typeface="Arial" pitchFamily="34" charset="-122"/>
                <a:cs typeface="Arial" pitchFamily="34" charset="-120"/>
              </a:rPr>
              <a:t>Si esto lo tuvierais mañana, gratis, en vuestro formato… </a:t>
            </a:r>
            <a:pPr indent="0" marL="0">
              <a:buNone/>
            </a:pPr>
            <a:r>
              <a:rPr lang="en-US" sz="1400" b="1" dirty="0">
                <a:solidFill>
                  <a:srgbClr val="0B0B33"/>
                </a:solidFill>
                <a:latin typeface="Arial" pitchFamily="34" charset="0"/>
                <a:ea typeface="Arial" pitchFamily="34" charset="-122"/>
                <a:cs typeface="Arial" pitchFamily="34" charset="-120"/>
              </a:rPr>
              <a:t>¿qué tendría que tener para que lo metierais en vuestro sistema?</a:t>
            </a:r>
            <a:endParaRPr lang="en-US" sz="1150" dirty="0"/>
          </a:p>
        </p:txBody>
      </p:sp>
      <p:sp>
        <p:nvSpPr>
          <p:cNvPr id="9" name="Shape 6"/>
          <p:cNvSpPr/>
          <p:nvPr/>
        </p:nvSpPr>
        <p:spPr>
          <a:xfrm>
            <a:off x="457200" y="2615184"/>
            <a:ext cx="8229600" cy="603504"/>
          </a:xfrm>
          <a:prstGeom prst="roundRect">
            <a:avLst>
              <a:gd name="adj" fmla="val 18182"/>
            </a:avLst>
          </a:prstGeom>
          <a:solidFill>
            <a:srgbClr val="F2F0FE"/>
          </a:solidFill>
          <a:ln w="9525">
            <a:solidFill>
              <a:srgbClr val="D8D8E6"/>
            </a:solidFill>
            <a:prstDash val="solid"/>
          </a:ln>
        </p:spPr>
      </p:sp>
      <p:sp>
        <p:nvSpPr>
          <p:cNvPr id="10" name="Shape 7"/>
          <p:cNvSpPr/>
          <p:nvPr/>
        </p:nvSpPr>
        <p:spPr>
          <a:xfrm>
            <a:off x="640080" y="2743200"/>
            <a:ext cx="347472" cy="347472"/>
          </a:xfrm>
          <a:prstGeom prst="ellipse">
            <a:avLst/>
          </a:prstGeom>
          <a:solidFill>
            <a:srgbClr val="6633E0"/>
          </a:solidFill>
          <a:ln w="12700">
            <a:solidFill>
              <a:srgbClr val="6633E0"/>
            </a:solidFill>
            <a:prstDash val="solid"/>
          </a:ln>
        </p:spPr>
      </p:sp>
      <p:sp>
        <p:nvSpPr>
          <p:cNvPr id="11" name="Text 8"/>
          <p:cNvSpPr txBox="1"/>
          <p:nvPr/>
        </p:nvSpPr>
        <p:spPr>
          <a:xfrm>
            <a:off x="640080" y="27432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9"/>
          <p:cNvSpPr txBox="1"/>
          <p:nvPr/>
        </p:nvSpPr>
        <p:spPr>
          <a:xfrm>
            <a:off x="1143000" y="2615184"/>
            <a:ext cx="7406640" cy="603504"/>
          </a:xfrm>
          <a:prstGeom prst="rect">
            <a:avLst/>
          </a:prstGeom>
          <a:noFill/>
          <a:ln/>
        </p:spPr>
        <p:txBody>
          <a:bodyPr wrap="square" lIns="0" tIns="0" rIns="0" bIns="0" rtlCol="0" anchor="ctr"/>
          <a:lstStyle/>
          <a:p>
            <a:pPr indent="0" marL="0">
              <a:buNone/>
            </a:pPr>
            <a:r>
              <a:rPr lang="en-US" sz="1150" dirty="0">
                <a:solidFill>
                  <a:srgbClr val="5A5F7D"/>
                </a:solidFill>
                <a:latin typeface="Arial" pitchFamily="34" charset="0"/>
                <a:ea typeface="Arial" pitchFamily="34" charset="-122"/>
                <a:cs typeface="Arial" pitchFamily="34" charset="-120"/>
              </a:rPr>
              <a:t>Del documento que habéis visto, </a:t>
            </a:r>
            <a:pPr indent="0" marL="0">
              <a:buNone/>
            </a:pPr>
            <a:r>
              <a:rPr lang="en-US" sz="1400" b="1" dirty="0">
                <a:solidFill>
                  <a:srgbClr val="0B0B33"/>
                </a:solidFill>
                <a:latin typeface="Arial" pitchFamily="34" charset="0"/>
                <a:ea typeface="Arial" pitchFamily="34" charset="-122"/>
                <a:cs typeface="Arial" pitchFamily="34" charset="-120"/>
              </a:rPr>
              <a:t>¿qué le sobra? ¿Qué le falta?</a:t>
            </a:r>
            <a:endParaRPr lang="en-US" sz="1150" dirty="0"/>
          </a:p>
        </p:txBody>
      </p:sp>
      <p:sp>
        <p:nvSpPr>
          <p:cNvPr id="13" name="Shape 10"/>
          <p:cNvSpPr/>
          <p:nvPr/>
        </p:nvSpPr>
        <p:spPr>
          <a:xfrm>
            <a:off x="457200" y="3310128"/>
            <a:ext cx="8229600" cy="603504"/>
          </a:xfrm>
          <a:prstGeom prst="roundRect">
            <a:avLst>
              <a:gd name="adj" fmla="val 18182"/>
            </a:avLst>
          </a:prstGeom>
          <a:solidFill>
            <a:srgbClr val="F2F0FE"/>
          </a:solidFill>
          <a:ln w="9525">
            <a:solidFill>
              <a:srgbClr val="D8D8E6"/>
            </a:solidFill>
            <a:prstDash val="solid"/>
          </a:ln>
        </p:spPr>
      </p:sp>
      <p:sp>
        <p:nvSpPr>
          <p:cNvPr id="14" name="Shape 11"/>
          <p:cNvSpPr/>
          <p:nvPr/>
        </p:nvSpPr>
        <p:spPr>
          <a:xfrm>
            <a:off x="640080" y="3438144"/>
            <a:ext cx="347472" cy="347472"/>
          </a:xfrm>
          <a:prstGeom prst="ellipse">
            <a:avLst/>
          </a:prstGeom>
          <a:solidFill>
            <a:srgbClr val="6633E0"/>
          </a:solidFill>
          <a:ln w="12700">
            <a:solidFill>
              <a:srgbClr val="6633E0"/>
            </a:solidFill>
            <a:prstDash val="solid"/>
          </a:ln>
        </p:spPr>
      </p:sp>
      <p:sp>
        <p:nvSpPr>
          <p:cNvPr id="15" name="Text 12"/>
          <p:cNvSpPr txBox="1"/>
          <p:nvPr/>
        </p:nvSpPr>
        <p:spPr>
          <a:xfrm>
            <a:off x="640080" y="34381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3"/>
          <p:cNvSpPr txBox="1"/>
          <p:nvPr/>
        </p:nvSpPr>
        <p:spPr>
          <a:xfrm>
            <a:off x="1143000" y="3310128"/>
            <a:ext cx="7406640" cy="603504"/>
          </a:xfrm>
          <a:prstGeom prst="rect">
            <a:avLst/>
          </a:prstGeom>
          <a:noFill/>
          <a:ln/>
        </p:spPr>
        <p:txBody>
          <a:bodyPr wrap="square" lIns="0" tIns="0" rIns="0" bIns="0" rtlCol="0" anchor="ctr"/>
          <a:lstStyle/>
          <a:p>
            <a:pPr indent="0" marL="0">
              <a:buNone/>
            </a:pPr>
            <a:r>
              <a:rPr lang="en-US" sz="1150" dirty="0">
                <a:solidFill>
                  <a:srgbClr val="5A5F7D"/>
                </a:solidFill>
                <a:latin typeface="Arial" pitchFamily="34" charset="0"/>
                <a:ea typeface="Arial" pitchFamily="34" charset="-122"/>
                <a:cs typeface="Arial" pitchFamily="34" charset="-120"/>
              </a:rPr>
              <a:t>Si lo usarais, </a:t>
            </a:r>
            <a:pPr indent="0" marL="0">
              <a:buNone/>
            </a:pPr>
            <a:r>
              <a:rPr lang="en-US" sz="1400" b="1" dirty="0">
                <a:solidFill>
                  <a:srgbClr val="0B0B33"/>
                </a:solidFill>
                <a:latin typeface="Arial" pitchFamily="34" charset="0"/>
                <a:ea typeface="Arial" pitchFamily="34" charset="-122"/>
                <a:cs typeface="Arial" pitchFamily="34" charset="-120"/>
              </a:rPr>
              <a:t>¿quién lo abriría: el operario en la máquina, Calidad, el auditor?</a:t>
            </a:r>
            <a:endParaRPr lang="en-US" sz="1150" dirty="0"/>
          </a:p>
        </p:txBody>
      </p:sp>
      <p:sp>
        <p:nvSpPr>
          <p:cNvPr id="17" name="Shape 14"/>
          <p:cNvSpPr/>
          <p:nvPr/>
        </p:nvSpPr>
        <p:spPr>
          <a:xfrm>
            <a:off x="457200" y="4005072"/>
            <a:ext cx="8229600" cy="603504"/>
          </a:xfrm>
          <a:prstGeom prst="roundRect">
            <a:avLst>
              <a:gd name="adj" fmla="val 18182"/>
            </a:avLst>
          </a:prstGeom>
          <a:solidFill>
            <a:srgbClr val="F2F0FE"/>
          </a:solidFill>
          <a:ln w="9525">
            <a:solidFill>
              <a:srgbClr val="D8D8E6"/>
            </a:solidFill>
            <a:prstDash val="solid"/>
          </a:ln>
        </p:spPr>
      </p:sp>
      <p:sp>
        <p:nvSpPr>
          <p:cNvPr id="18" name="Shape 15"/>
          <p:cNvSpPr/>
          <p:nvPr/>
        </p:nvSpPr>
        <p:spPr>
          <a:xfrm>
            <a:off x="640080" y="4133088"/>
            <a:ext cx="347472" cy="347472"/>
          </a:xfrm>
          <a:prstGeom prst="ellipse">
            <a:avLst/>
          </a:prstGeom>
          <a:solidFill>
            <a:srgbClr val="6633E0"/>
          </a:solidFill>
          <a:ln w="12700">
            <a:solidFill>
              <a:srgbClr val="6633E0"/>
            </a:solidFill>
            <a:prstDash val="solid"/>
          </a:ln>
        </p:spPr>
      </p:sp>
      <p:sp>
        <p:nvSpPr>
          <p:cNvPr id="19" name="Text 16"/>
          <p:cNvSpPr txBox="1"/>
          <p:nvPr/>
        </p:nvSpPr>
        <p:spPr>
          <a:xfrm>
            <a:off x="640080" y="41330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0" name="Text 17"/>
          <p:cNvSpPr txBox="1"/>
          <p:nvPr/>
        </p:nvSpPr>
        <p:spPr>
          <a:xfrm>
            <a:off x="1143000" y="4005072"/>
            <a:ext cx="7406640" cy="603504"/>
          </a:xfrm>
          <a:prstGeom prst="rect">
            <a:avLst/>
          </a:prstGeom>
          <a:noFill/>
          <a:ln/>
        </p:spPr>
        <p:txBody>
          <a:bodyPr wrap="square" lIns="0" tIns="0" rIns="0" bIns="0" rtlCol="0" anchor="ctr"/>
          <a:lstStyle/>
          <a:p>
            <a:pPr indent="0" marL="0">
              <a:buNone/>
            </a:pPr>
            <a:r>
              <a:rPr lang="en-US" sz="1150" dirty="0">
                <a:solidFill>
                  <a:srgbClr val="5A5F7D"/>
                </a:solidFill>
                <a:latin typeface="Arial" pitchFamily="34" charset="0"/>
                <a:ea typeface="Arial" pitchFamily="34" charset="-122"/>
                <a:cs typeface="Arial" pitchFamily="34" charset="-120"/>
              </a:rPr>
              <a:t>Algo así, </a:t>
            </a:r>
            <a:pPr indent="0" marL="0">
              <a:buNone/>
            </a:pPr>
            <a:r>
              <a:rPr lang="en-US" sz="1400" b="1" dirty="0">
                <a:solidFill>
                  <a:srgbClr val="0B0B33"/>
                </a:solidFill>
                <a:latin typeface="Arial" pitchFamily="34" charset="0"/>
                <a:ea typeface="Arial" pitchFamily="34" charset="-122"/>
                <a:cs typeface="Arial" pitchFamily="34" charset="-120"/>
              </a:rPr>
              <a:t>¿con qué lo compararíais: consultora, un software, plantillas propias?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Users/liamperezliberman/saas industrial/marca/logo-color.png">    </p:cNvPr>
          <p:cNvPicPr>
            <a:picLocks noChangeAspect="1"/>
          </p:cNvPicPr>
          <p:nvPr/>
        </p:nvPicPr>
        <p:blipFill>
          <a:blip r:embed="rId1"/>
          <a:stretch>
            <a:fillRect/>
          </a:stretch>
        </p:blipFill>
        <p:spPr>
          <a:xfrm>
            <a:off x="457200" y="292608"/>
            <a:ext cx="685414" cy="384048"/>
          </a:xfrm>
          <a:prstGeom prst="rect">
            <a:avLst/>
          </a:prstGeom>
        </p:spPr>
      </p:pic>
      <p:sp>
        <p:nvSpPr>
          <p:cNvPr id="3" name="Text 0"/>
          <p:cNvSpPr txBox="1"/>
          <p:nvPr/>
        </p:nvSpPr>
        <p:spPr>
          <a:xfrm>
            <a:off x="457200" y="777240"/>
            <a:ext cx="8229600" cy="640080"/>
          </a:xfrm>
          <a:prstGeom prst="rect">
            <a:avLst/>
          </a:prstGeom>
          <a:noFill/>
          <a:ln/>
        </p:spPr>
        <p:txBody>
          <a:bodyPr wrap="square" lIns="0" tIns="0" rIns="0" bIns="0" rtlCol="0" anchor="t"/>
          <a:lstStyle/>
          <a:p>
            <a:pPr indent="0" marL="0">
              <a:buNone/>
            </a:pPr>
            <a:r>
              <a:rPr lang="en-US" sz="3000" b="1" dirty="0">
                <a:solidFill>
                  <a:srgbClr val="0B0B33"/>
                </a:solidFill>
                <a:latin typeface="Arial" pitchFamily="34" charset="0"/>
                <a:ea typeface="Arial" pitchFamily="34" charset="-122"/>
                <a:cs typeface="Arial" pitchFamily="34" charset="-120"/>
              </a:rPr>
              <a:t>Siguiente paso: una máquina vuestra, gratis</a:t>
            </a:r>
            <a:endParaRPr lang="en-US" sz="3000" dirty="0"/>
          </a:p>
        </p:txBody>
      </p:sp>
      <p:sp>
        <p:nvSpPr>
          <p:cNvPr id="4" name="Text 1"/>
          <p:cNvSpPr txBox="1"/>
          <p:nvPr/>
        </p:nvSpPr>
        <p:spPr>
          <a:xfrm>
            <a:off x="457200" y="1371600"/>
            <a:ext cx="8229600" cy="365760"/>
          </a:xfrm>
          <a:prstGeom prst="rect">
            <a:avLst/>
          </a:prstGeom>
          <a:noFill/>
          <a:ln/>
        </p:spPr>
        <p:txBody>
          <a:bodyPr wrap="square" lIns="0" tIns="0" rIns="0" bIns="0" rtlCol="0" anchor="t"/>
          <a:lstStyle/>
          <a:p>
            <a:pPr indent="0" marL="0">
              <a:buNone/>
            </a:pPr>
            <a:r>
              <a:rPr lang="en-US" sz="1400" dirty="0">
                <a:solidFill>
                  <a:srgbClr val="5A5F7D"/>
                </a:solidFill>
                <a:latin typeface="Arial" pitchFamily="34" charset="0"/>
                <a:ea typeface="Arial" pitchFamily="34" charset="-122"/>
                <a:cs typeface="Arial" pitchFamily="34" charset="-120"/>
              </a:rPr>
              <a:t>Para que lo veáis con vuestro operario y vuestro formato, no con los de otra fábrica.</a:t>
            </a:r>
            <a:endParaRPr lang="en-US" sz="1400" dirty="0"/>
          </a:p>
        </p:txBody>
      </p:sp>
      <p:sp>
        <p:nvSpPr>
          <p:cNvPr id="5" name="Shape 2"/>
          <p:cNvSpPr/>
          <p:nvPr/>
        </p:nvSpPr>
        <p:spPr>
          <a:xfrm>
            <a:off x="457200" y="1920240"/>
            <a:ext cx="2560320" cy="1417320"/>
          </a:xfrm>
          <a:prstGeom prst="roundRect">
            <a:avLst>
              <a:gd name="adj" fmla="val 7742"/>
            </a:avLst>
          </a:prstGeom>
          <a:solidFill>
            <a:srgbClr val="F1F1F8"/>
          </a:solidFill>
          <a:ln w="9525">
            <a:solidFill>
              <a:srgbClr val="D8D8E6"/>
            </a:solidFill>
            <a:prstDash val="solid"/>
          </a:ln>
        </p:spPr>
      </p:sp>
      <p:sp>
        <p:nvSpPr>
          <p:cNvPr id="6" name="Shape 3"/>
          <p:cNvSpPr/>
          <p:nvPr/>
        </p:nvSpPr>
        <p:spPr>
          <a:xfrm>
            <a:off x="658368" y="2121408"/>
            <a:ext cx="384048" cy="384048"/>
          </a:xfrm>
          <a:prstGeom prst="ellipse">
            <a:avLst/>
          </a:prstGeom>
          <a:solidFill>
            <a:srgbClr val="2A66DB"/>
          </a:solidFill>
          <a:ln w="12700">
            <a:solidFill>
              <a:srgbClr val="2A66DB"/>
            </a:solidFill>
            <a:prstDash val="solid"/>
          </a:ln>
        </p:spPr>
      </p:sp>
      <p:sp>
        <p:nvSpPr>
          <p:cNvPr id="7" name="Text 4"/>
          <p:cNvSpPr txBox="1"/>
          <p:nvPr/>
        </p:nvSpPr>
        <p:spPr>
          <a:xfrm>
            <a:off x="658368" y="21214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658368" y="2606040"/>
            <a:ext cx="2157984" cy="320040"/>
          </a:xfrm>
          <a:prstGeom prst="rect">
            <a:avLst/>
          </a:prstGeom>
          <a:noFill/>
          <a:ln/>
        </p:spPr>
        <p:txBody>
          <a:bodyPr wrap="square" lIns="0" tIns="0" rIns="0" bIns="0" rtlCol="0" anchor="ctr"/>
          <a:lstStyle/>
          <a:p>
            <a:pPr indent="0" marL="0">
              <a:buNone/>
            </a:pPr>
            <a:r>
              <a:rPr lang="en-US" sz="1300" b="1" dirty="0">
                <a:solidFill>
                  <a:srgbClr val="0B0B33"/>
                </a:solidFill>
                <a:latin typeface="Arial" pitchFamily="34" charset="0"/>
                <a:ea typeface="Arial" pitchFamily="34" charset="-122"/>
                <a:cs typeface="Arial" pitchFamily="34" charset="-120"/>
              </a:rPr>
              <a:t>Elegís una máquina</a:t>
            </a:r>
            <a:endParaRPr lang="en-US" sz="1300" dirty="0"/>
          </a:p>
        </p:txBody>
      </p:sp>
      <p:sp>
        <p:nvSpPr>
          <p:cNvPr id="9" name="Text 6"/>
          <p:cNvSpPr txBox="1"/>
          <p:nvPr/>
        </p:nvSpPr>
        <p:spPr>
          <a:xfrm>
            <a:off x="658368" y="2907792"/>
            <a:ext cx="2157984" cy="384048"/>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La que más cuesta enseñar a alguien nuevo.</a:t>
            </a:r>
            <a:endParaRPr lang="en-US" sz="1050" dirty="0"/>
          </a:p>
        </p:txBody>
      </p:sp>
      <p:sp>
        <p:nvSpPr>
          <p:cNvPr id="10" name="Shape 7"/>
          <p:cNvSpPr/>
          <p:nvPr/>
        </p:nvSpPr>
        <p:spPr>
          <a:xfrm>
            <a:off x="3291840" y="1920240"/>
            <a:ext cx="2560320" cy="1417320"/>
          </a:xfrm>
          <a:prstGeom prst="roundRect">
            <a:avLst>
              <a:gd name="adj" fmla="val 7742"/>
            </a:avLst>
          </a:prstGeom>
          <a:solidFill>
            <a:srgbClr val="F1F1F8"/>
          </a:solidFill>
          <a:ln w="9525">
            <a:solidFill>
              <a:srgbClr val="D8D8E6"/>
            </a:solidFill>
            <a:prstDash val="solid"/>
          </a:ln>
        </p:spPr>
      </p:sp>
      <p:sp>
        <p:nvSpPr>
          <p:cNvPr id="11" name="Shape 8"/>
          <p:cNvSpPr/>
          <p:nvPr/>
        </p:nvSpPr>
        <p:spPr>
          <a:xfrm>
            <a:off x="3493008" y="2121408"/>
            <a:ext cx="384048" cy="384048"/>
          </a:xfrm>
          <a:prstGeom prst="ellipse">
            <a:avLst/>
          </a:prstGeom>
          <a:solidFill>
            <a:srgbClr val="2A66DB"/>
          </a:solidFill>
          <a:ln w="12700">
            <a:solidFill>
              <a:srgbClr val="2A66DB"/>
            </a:solidFill>
            <a:prstDash val="solid"/>
          </a:ln>
        </p:spPr>
      </p:sp>
      <p:sp>
        <p:nvSpPr>
          <p:cNvPr id="12" name="Text 9"/>
          <p:cNvSpPr txBox="1"/>
          <p:nvPr/>
        </p:nvSpPr>
        <p:spPr>
          <a:xfrm>
            <a:off x="3493008" y="21214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3493008" y="2606040"/>
            <a:ext cx="2157984" cy="320040"/>
          </a:xfrm>
          <a:prstGeom prst="rect">
            <a:avLst/>
          </a:prstGeom>
          <a:noFill/>
          <a:ln/>
        </p:spPr>
        <p:txBody>
          <a:bodyPr wrap="square" lIns="0" tIns="0" rIns="0" bIns="0" rtlCol="0" anchor="ctr"/>
          <a:lstStyle/>
          <a:p>
            <a:pPr indent="0" marL="0">
              <a:buNone/>
            </a:pPr>
            <a:r>
              <a:rPr lang="en-US" sz="1300" b="1" dirty="0">
                <a:solidFill>
                  <a:srgbClr val="0B0B33"/>
                </a:solidFill>
                <a:latin typeface="Arial" pitchFamily="34" charset="0"/>
                <a:ea typeface="Arial" pitchFamily="34" charset="-122"/>
                <a:cs typeface="Arial" pitchFamily="34" charset="-120"/>
              </a:rPr>
              <a:t>Un operario graba</a:t>
            </a:r>
            <a:endParaRPr lang="en-US" sz="1300" dirty="0"/>
          </a:p>
        </p:txBody>
      </p:sp>
      <p:sp>
        <p:nvSpPr>
          <p:cNvPr id="14" name="Text 11"/>
          <p:cNvSpPr txBox="1"/>
          <p:nvPr/>
        </p:nvSpPr>
        <p:spPr>
          <a:xfrm>
            <a:off x="3493008" y="2907792"/>
            <a:ext cx="2157984" cy="384048"/>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3 minutos con el móvil, siguiendo cuatro frases que os damos.</a:t>
            </a:r>
            <a:endParaRPr lang="en-US" sz="1050" dirty="0"/>
          </a:p>
        </p:txBody>
      </p:sp>
      <p:sp>
        <p:nvSpPr>
          <p:cNvPr id="15" name="Shape 12"/>
          <p:cNvSpPr/>
          <p:nvPr/>
        </p:nvSpPr>
        <p:spPr>
          <a:xfrm>
            <a:off x="6126480" y="1920240"/>
            <a:ext cx="2560320" cy="1417320"/>
          </a:xfrm>
          <a:prstGeom prst="roundRect">
            <a:avLst>
              <a:gd name="adj" fmla="val 7742"/>
            </a:avLst>
          </a:prstGeom>
          <a:solidFill>
            <a:srgbClr val="F1F1F8"/>
          </a:solidFill>
          <a:ln w="9525">
            <a:solidFill>
              <a:srgbClr val="D8D8E6"/>
            </a:solidFill>
            <a:prstDash val="solid"/>
          </a:ln>
        </p:spPr>
      </p:sp>
      <p:sp>
        <p:nvSpPr>
          <p:cNvPr id="16" name="Shape 13"/>
          <p:cNvSpPr/>
          <p:nvPr/>
        </p:nvSpPr>
        <p:spPr>
          <a:xfrm>
            <a:off x="6327648" y="2121408"/>
            <a:ext cx="384048" cy="384048"/>
          </a:xfrm>
          <a:prstGeom prst="ellipse">
            <a:avLst/>
          </a:prstGeom>
          <a:solidFill>
            <a:srgbClr val="2A66DB"/>
          </a:solidFill>
          <a:ln w="12700">
            <a:solidFill>
              <a:srgbClr val="2A66DB"/>
            </a:solidFill>
            <a:prstDash val="solid"/>
          </a:ln>
        </p:spPr>
      </p:sp>
      <p:sp>
        <p:nvSpPr>
          <p:cNvPr id="17" name="Text 14"/>
          <p:cNvSpPr txBox="1"/>
          <p:nvPr/>
        </p:nvSpPr>
        <p:spPr>
          <a:xfrm>
            <a:off x="6327648" y="21214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6327648" y="2606040"/>
            <a:ext cx="2157984" cy="320040"/>
          </a:xfrm>
          <a:prstGeom prst="rect">
            <a:avLst/>
          </a:prstGeom>
          <a:noFill/>
          <a:ln/>
        </p:spPr>
        <p:txBody>
          <a:bodyPr wrap="square" lIns="0" tIns="0" rIns="0" bIns="0" rtlCol="0" anchor="ctr"/>
          <a:lstStyle/>
          <a:p>
            <a:pPr indent="0" marL="0">
              <a:buNone/>
            </a:pPr>
            <a:r>
              <a:rPr lang="en-US" sz="1300" b="1" dirty="0">
                <a:solidFill>
                  <a:srgbClr val="0B0B33"/>
                </a:solidFill>
                <a:latin typeface="Arial" pitchFamily="34" charset="0"/>
                <a:ea typeface="Arial" pitchFamily="34" charset="-122"/>
                <a:cs typeface="Arial" pitchFamily="34" charset="-120"/>
              </a:rPr>
              <a:t>Os devolvemos el manual</a:t>
            </a:r>
            <a:endParaRPr lang="en-US" sz="1300" dirty="0"/>
          </a:p>
        </p:txBody>
      </p:sp>
      <p:sp>
        <p:nvSpPr>
          <p:cNvPr id="19" name="Text 16"/>
          <p:cNvSpPr txBox="1"/>
          <p:nvPr/>
        </p:nvSpPr>
        <p:spPr>
          <a:xfrm>
            <a:off x="6327648" y="2907792"/>
            <a:ext cx="2157984" cy="384048"/>
          </a:xfrm>
          <a:prstGeom prst="rect">
            <a:avLst/>
          </a:prstGeom>
          <a:noFill/>
          <a:ln/>
        </p:spPr>
        <p:txBody>
          <a:bodyPr wrap="square" lIns="0" tIns="0" rIns="0" bIns="0" rtlCol="0" anchor="t"/>
          <a:lstStyle/>
          <a:p>
            <a:pPr indent="0" marL="0">
              <a:buNone/>
            </a:pPr>
            <a:r>
              <a:rPr lang="en-US" sz="1050" dirty="0">
                <a:solidFill>
                  <a:srgbClr val="5A5F7D"/>
                </a:solidFill>
                <a:latin typeface="Arial" pitchFamily="34" charset="0"/>
                <a:ea typeface="Arial" pitchFamily="34" charset="-122"/>
                <a:cs typeface="Arial" pitchFamily="34" charset="-120"/>
              </a:rPr>
              <a:t>En vuestro formato, en menos de una semana. Lo revisamos juntos.</a:t>
            </a:r>
            <a:endParaRPr lang="en-US" sz="1050" dirty="0"/>
          </a:p>
        </p:txBody>
      </p:sp>
      <p:sp>
        <p:nvSpPr>
          <p:cNvPr id="20" name="Shape 17"/>
          <p:cNvSpPr/>
          <p:nvPr/>
        </p:nvSpPr>
        <p:spPr>
          <a:xfrm>
            <a:off x="457200" y="3520440"/>
            <a:ext cx="8229600" cy="1097280"/>
          </a:xfrm>
          <a:prstGeom prst="roundRect">
            <a:avLst>
              <a:gd name="adj" fmla="val 10000"/>
            </a:avLst>
          </a:prstGeom>
          <a:solidFill>
            <a:srgbClr val="F2F0FE"/>
          </a:solidFill>
          <a:ln w="9525">
            <a:solidFill>
              <a:srgbClr val="D8D8E6"/>
            </a:solidFill>
            <a:prstDash val="solid"/>
          </a:ln>
        </p:spPr>
      </p:sp>
      <p:sp>
        <p:nvSpPr>
          <p:cNvPr id="21" name="Text 18"/>
          <p:cNvSpPr txBox="1"/>
          <p:nvPr/>
        </p:nvSpPr>
        <p:spPr>
          <a:xfrm>
            <a:off x="685800" y="3611880"/>
            <a:ext cx="7772400" cy="292608"/>
          </a:xfrm>
          <a:prstGeom prst="rect">
            <a:avLst/>
          </a:prstGeom>
          <a:noFill/>
          <a:ln/>
        </p:spPr>
        <p:txBody>
          <a:bodyPr wrap="square" lIns="0" tIns="0" rIns="0" bIns="0" rtlCol="0" anchor="ctr"/>
          <a:lstStyle/>
          <a:p>
            <a:pPr indent="0" marL="0">
              <a:buNone/>
            </a:pPr>
            <a:r>
              <a:rPr lang="en-US" sz="1250" b="1" dirty="0">
                <a:solidFill>
                  <a:srgbClr val="0B0B33"/>
                </a:solidFill>
                <a:latin typeface="Arial" pitchFamily="34" charset="0"/>
                <a:ea typeface="Arial" pitchFamily="34" charset="-122"/>
                <a:cs typeface="Arial" pitchFamily="34" charset="-120"/>
              </a:rPr>
              <a:t>Sin compromiso. A cambio, solo os pedimos tres cosas:</a:t>
            </a:r>
            <a:endParaRPr lang="en-US" sz="1250" dirty="0"/>
          </a:p>
        </p:txBody>
      </p:sp>
      <p:sp>
        <p:nvSpPr>
          <p:cNvPr id="22" name="Shape 19"/>
          <p:cNvSpPr/>
          <p:nvPr/>
        </p:nvSpPr>
        <p:spPr>
          <a:xfrm>
            <a:off x="685800" y="4041648"/>
            <a:ext cx="237744" cy="237744"/>
          </a:xfrm>
          <a:prstGeom prst="ellipse">
            <a:avLst/>
          </a:prstGeom>
          <a:solidFill>
            <a:srgbClr val="6633E0"/>
          </a:solidFill>
          <a:ln w="12700">
            <a:solidFill>
              <a:srgbClr val="6633E0"/>
            </a:solidFill>
            <a:prstDash val="solid"/>
          </a:ln>
        </p:spPr>
      </p:sp>
      <p:sp>
        <p:nvSpPr>
          <p:cNvPr id="23" name="Text 20"/>
          <p:cNvSpPr txBox="1"/>
          <p:nvPr/>
        </p:nvSpPr>
        <p:spPr>
          <a:xfrm>
            <a:off x="685800" y="40416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4" name="Text 21"/>
          <p:cNvSpPr txBox="1"/>
          <p:nvPr/>
        </p:nvSpPr>
        <p:spPr>
          <a:xfrm>
            <a:off x="996696" y="3977640"/>
            <a:ext cx="2240280" cy="548640"/>
          </a:xfrm>
          <a:prstGeom prst="rect">
            <a:avLst/>
          </a:prstGeom>
          <a:noFill/>
          <a:ln/>
        </p:spPr>
        <p:txBody>
          <a:bodyPr wrap="square" lIns="0" tIns="0" rIns="0" bIns="0" rtlCol="0" anchor="t"/>
          <a:lstStyle/>
          <a:p>
            <a:pPr indent="0" marL="0">
              <a:buNone/>
            </a:pPr>
            <a:r>
              <a:rPr lang="en-US" sz="1100" dirty="0">
                <a:solidFill>
                  <a:srgbClr val="0B0B33"/>
                </a:solidFill>
                <a:latin typeface="Arial" pitchFamily="34" charset="0"/>
                <a:ea typeface="Arial" pitchFamily="34" charset="-122"/>
                <a:cs typeface="Arial" pitchFamily="34" charset="-120"/>
              </a:rPr>
              <a:t>Que lo uséis de verdad con alguien nuevo</a:t>
            </a:r>
            <a:endParaRPr lang="en-US" sz="1100" dirty="0"/>
          </a:p>
        </p:txBody>
      </p:sp>
      <p:sp>
        <p:nvSpPr>
          <p:cNvPr id="25" name="Shape 22"/>
          <p:cNvSpPr/>
          <p:nvPr/>
        </p:nvSpPr>
        <p:spPr>
          <a:xfrm>
            <a:off x="3291840" y="4041648"/>
            <a:ext cx="237744" cy="237744"/>
          </a:xfrm>
          <a:prstGeom prst="ellipse">
            <a:avLst/>
          </a:prstGeom>
          <a:solidFill>
            <a:srgbClr val="6633E0"/>
          </a:solidFill>
          <a:ln w="12700">
            <a:solidFill>
              <a:srgbClr val="6633E0"/>
            </a:solidFill>
            <a:prstDash val="solid"/>
          </a:ln>
        </p:spPr>
      </p:sp>
      <p:sp>
        <p:nvSpPr>
          <p:cNvPr id="26" name="Text 23"/>
          <p:cNvSpPr txBox="1"/>
          <p:nvPr/>
        </p:nvSpPr>
        <p:spPr>
          <a:xfrm>
            <a:off x="3291840" y="40416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7" name="Text 24"/>
          <p:cNvSpPr txBox="1"/>
          <p:nvPr/>
        </p:nvSpPr>
        <p:spPr>
          <a:xfrm>
            <a:off x="3602736" y="3977640"/>
            <a:ext cx="2240280" cy="548640"/>
          </a:xfrm>
          <a:prstGeom prst="rect">
            <a:avLst/>
          </a:prstGeom>
          <a:noFill/>
          <a:ln/>
        </p:spPr>
        <p:txBody>
          <a:bodyPr wrap="square" lIns="0" tIns="0" rIns="0" bIns="0" rtlCol="0" anchor="t"/>
          <a:lstStyle/>
          <a:p>
            <a:pPr indent="0" marL="0">
              <a:buNone/>
            </a:pPr>
            <a:r>
              <a:rPr lang="en-US" sz="1100" dirty="0">
                <a:solidFill>
                  <a:srgbClr val="0B0B33"/>
                </a:solidFill>
                <a:latin typeface="Arial" pitchFamily="34" charset="0"/>
                <a:ea typeface="Arial" pitchFamily="34" charset="-122"/>
                <a:cs typeface="Arial" pitchFamily="34" charset="-120"/>
              </a:rPr>
              <a:t>Que nos digáis qué está mal</a:t>
            </a:r>
            <a:endParaRPr lang="en-US" sz="1100" dirty="0"/>
          </a:p>
        </p:txBody>
      </p:sp>
      <p:sp>
        <p:nvSpPr>
          <p:cNvPr id="28" name="Shape 25"/>
          <p:cNvSpPr/>
          <p:nvPr/>
        </p:nvSpPr>
        <p:spPr>
          <a:xfrm>
            <a:off x="5897880" y="4041648"/>
            <a:ext cx="237744" cy="237744"/>
          </a:xfrm>
          <a:prstGeom prst="ellipse">
            <a:avLst/>
          </a:prstGeom>
          <a:solidFill>
            <a:srgbClr val="6633E0"/>
          </a:solidFill>
          <a:ln w="12700">
            <a:solidFill>
              <a:srgbClr val="6633E0"/>
            </a:solidFill>
            <a:prstDash val="solid"/>
          </a:ln>
        </p:spPr>
      </p:sp>
      <p:sp>
        <p:nvSpPr>
          <p:cNvPr id="29" name="Text 26"/>
          <p:cNvSpPr txBox="1"/>
          <p:nvPr/>
        </p:nvSpPr>
        <p:spPr>
          <a:xfrm>
            <a:off x="5897880" y="40416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30" name="Text 27"/>
          <p:cNvSpPr txBox="1"/>
          <p:nvPr/>
        </p:nvSpPr>
        <p:spPr>
          <a:xfrm>
            <a:off x="6208776" y="3977640"/>
            <a:ext cx="2240280" cy="548640"/>
          </a:xfrm>
          <a:prstGeom prst="rect">
            <a:avLst/>
          </a:prstGeom>
          <a:noFill/>
          <a:ln/>
        </p:spPr>
        <p:txBody>
          <a:bodyPr wrap="square" lIns="0" tIns="0" rIns="0" bIns="0" rtlCol="0" anchor="t"/>
          <a:lstStyle/>
          <a:p>
            <a:pPr indent="0" marL="0">
              <a:buNone/>
            </a:pPr>
            <a:r>
              <a:rPr lang="en-US" sz="1100" dirty="0">
                <a:solidFill>
                  <a:srgbClr val="0B0B33"/>
                </a:solidFill>
                <a:latin typeface="Arial" pitchFamily="34" charset="0"/>
                <a:ea typeface="Arial" pitchFamily="34" charset="-122"/>
                <a:cs typeface="Arial" pitchFamily="34" charset="-120"/>
              </a:rPr>
              <a:t>Si os parece bueno, dejarnos contarlo con vuestro nombre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liamperezliberman/saas industrial/marca/logo-blanco.png">    </p:cNvPr>
          <p:cNvPicPr>
            <a:picLocks noChangeAspect="1"/>
          </p:cNvPicPr>
          <p:nvPr/>
        </p:nvPicPr>
        <p:blipFill>
          <a:blip r:embed="rId2"/>
          <a:stretch>
            <a:fillRect/>
          </a:stretch>
        </p:blipFill>
        <p:spPr>
          <a:xfrm>
            <a:off x="640080" y="822960"/>
            <a:ext cx="1305550" cy="731520"/>
          </a:xfrm>
          <a:prstGeom prst="rect">
            <a:avLst/>
          </a:prstGeom>
        </p:spPr>
      </p:pic>
      <p:sp>
        <p:nvSpPr>
          <p:cNvPr id="3" name="Text 0"/>
          <p:cNvSpPr txBox="1"/>
          <p:nvPr/>
        </p:nvSpPr>
        <p:spPr>
          <a:xfrm>
            <a:off x="640080" y="182880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Gracias por corregirnos.</a:t>
            </a:r>
            <a:endParaRPr lang="en-US" sz="3200" dirty="0"/>
          </a:p>
        </p:txBody>
      </p:sp>
      <p:sp>
        <p:nvSpPr>
          <p:cNvPr id="4" name="Text 1"/>
          <p:cNvSpPr txBox="1"/>
          <p:nvPr/>
        </p:nvSpPr>
        <p:spPr>
          <a:xfrm>
            <a:off x="640080" y="2606040"/>
            <a:ext cx="7863840" cy="320040"/>
          </a:xfrm>
          <a:prstGeom prst="rect">
            <a:avLst/>
          </a:prstGeom>
          <a:noFill/>
          <a:ln/>
        </p:spPr>
        <p:txBody>
          <a:bodyPr wrap="square" lIns="0" tIns="0" rIns="0" bIns="0" rtlCol="0" anchor="ctr"/>
          <a:lstStyle/>
          <a:p>
            <a:pPr indent="0" marL="0">
              <a:buNone/>
            </a:pPr>
            <a:r>
              <a:rPr lang="en-US" sz="1400" dirty="0">
                <a:solidFill>
                  <a:srgbClr val="E4E4FA"/>
                </a:solidFill>
                <a:latin typeface="Arial" pitchFamily="34" charset="0"/>
                <a:ea typeface="Arial" pitchFamily="34" charset="-122"/>
                <a:cs typeface="Arial" pitchFamily="34" charset="-120"/>
              </a:rPr>
              <a:t>Alejandro · Cofundador</a:t>
            </a:r>
            <a:endParaRPr lang="en-US" sz="1400" dirty="0"/>
          </a:p>
        </p:txBody>
      </p:sp>
      <p:sp>
        <p:nvSpPr>
          <p:cNvPr id="5" name="Text 2"/>
          <p:cNvSpPr txBox="1"/>
          <p:nvPr/>
        </p:nvSpPr>
        <p:spPr>
          <a:xfrm>
            <a:off x="640080" y="2926080"/>
            <a:ext cx="7863840" cy="640080"/>
          </a:xfrm>
          <a:prstGeom prst="rect">
            <a:avLst/>
          </a:prstGeom>
          <a:noFill/>
          <a:ln/>
        </p:spPr>
        <p:txBody>
          <a:bodyPr wrap="square" lIns="0" tIns="0" rIns="0" bIns="0" rtlCol="0" anchor="ctr"/>
          <a:lstStyle/>
          <a:p>
            <a:pPr indent="0" marL="0">
              <a:spcAft>
                <a:spcPts val="400"/>
              </a:spcAft>
              <a:buNone/>
            </a:pPr>
            <a:r>
              <a:rPr lang="en-US" sz="1500" b="1" u="sng" dirty="0">
                <a:solidFill>
                  <a:srgbClr val="FFFFF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alejandro@mapealoprocesos.com</a:t>
            </a:r>
            <a:endParaRPr lang="en-US" sz="1500" dirty="0"/>
          </a:p>
          <a:p>
            <a:pPr indent="0" marL="0">
              <a:spcAft>
                <a:spcPts val="400"/>
              </a:spcAft>
              <a:buNone/>
            </a:pPr>
            <a:r>
              <a:rPr lang="en-US" sz="1500" b="1" dirty="0">
                <a:solidFill>
                  <a:srgbClr val="FFFFFF"/>
                </a:solidFill>
                <a:latin typeface="Arial" pitchFamily="34" charset="0"/>
                <a:ea typeface="Arial" pitchFamily="34" charset="-122"/>
                <a:cs typeface="Arial" pitchFamily="34" charset="-120"/>
              </a:rPr>
              <a:t>+34 692 248 199</a:t>
            </a:r>
            <a:endParaRPr lang="en-US" sz="1500" dirty="0"/>
          </a:p>
        </p:txBody>
      </p:sp>
      <p:sp>
        <p:nvSpPr>
          <p:cNvPr id="6" name="Shape 3"/>
          <p:cNvSpPr/>
          <p:nvPr/>
        </p:nvSpPr>
        <p:spPr>
          <a:xfrm>
            <a:off x="640080" y="3977640"/>
            <a:ext cx="1463040" cy="384048"/>
          </a:xfrm>
          <a:prstGeom prst="roundRect">
            <a:avLst>
              <a:gd name="adj" fmla="val 23810"/>
            </a:avLst>
          </a:prstGeom>
          <a:solidFill>
            <a:srgbClr val="0B0B33"/>
          </a:solidFill>
          <a:ln w="12700">
            <a:solidFill>
              <a:srgbClr val="0B0B33"/>
            </a:solidFill>
            <a:prstDash val="solid"/>
          </a:ln>
        </p:spPr>
      </p:sp>
      <p:sp>
        <p:nvSpPr>
          <p:cNvPr id="7" name="Text 4">
            <a:hlinkClick r:id="rId4" tooltip="https://l1yac.github.io/mapealo/video/"/>
          </p:cNvPr>
          <p:cNvSpPr txBox="1"/>
          <p:nvPr/>
        </p:nvSpPr>
        <p:spPr>
          <a:xfrm>
            <a:off x="640080" y="3977640"/>
            <a:ext cx="1463040" cy="384048"/>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4" invalidUrl="" action="" tgtFrame="" tooltip="https://l1yac.github.io/mapealo/video/" history="1" highlightClick="0" endSnd="0">
                  <a:extLst>
                    <a:ext uri="{A12FA001-AC4F-418D-AE19-62706E023703}">
                      <ahyp:hlinkClr xmlns:ahyp="http://schemas.microsoft.com/office/drawing/2018/hyperlinkcolor" val="tx"/>
                    </a:ext>
                  </a:extLst>
                </a:hlinkClick>
              </a:rPr>
              <a:t>Vídeo ↗</a:t>
            </a:r>
            <a:endParaRPr lang="en-US" sz="1150" dirty="0"/>
          </a:p>
        </p:txBody>
      </p:sp>
      <p:sp>
        <p:nvSpPr>
          <p:cNvPr id="8" name="Shape 5"/>
          <p:cNvSpPr/>
          <p:nvPr/>
        </p:nvSpPr>
        <p:spPr>
          <a:xfrm>
            <a:off x="2194560" y="3977640"/>
            <a:ext cx="1645920" cy="384048"/>
          </a:xfrm>
          <a:prstGeom prst="roundRect">
            <a:avLst>
              <a:gd name="adj" fmla="val 23810"/>
            </a:avLst>
          </a:prstGeom>
          <a:solidFill>
            <a:srgbClr val="0B0B33"/>
          </a:solidFill>
          <a:ln w="12700">
            <a:solidFill>
              <a:srgbClr val="0B0B33"/>
            </a:solidFill>
            <a:prstDash val="solid"/>
          </a:ln>
        </p:spPr>
      </p:sp>
      <p:sp>
        <p:nvSpPr>
          <p:cNvPr id="9" name="Text 6">
            <a:hlinkClick r:id="rId5" tooltip="https://l1yac.github.io/mapealo/m/cortado/manual.pdf"/>
          </p:cNvPr>
          <p:cNvSpPr txBox="1"/>
          <p:nvPr/>
        </p:nvSpPr>
        <p:spPr>
          <a:xfrm>
            <a:off x="2194560" y="3977640"/>
            <a:ext cx="1645920" cy="384048"/>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5" invalidUrl="" action="" tgtFrame="" tooltip="https://l1yac.github.io/mapealo/m/cortado/manual.pdf" history="1" highlightClick="0" endSnd="0">
                  <a:extLst>
                    <a:ext uri="{A12FA001-AC4F-418D-AE19-62706E023703}">
                      <ahyp:hlinkClr xmlns:ahyp="http://schemas.microsoft.com/office/drawing/2018/hyperlinkcolor" val="tx"/>
                    </a:ext>
                  </a:extLst>
                </a:hlinkClick>
              </a:rPr>
              <a:t>Documento ↗</a:t>
            </a:r>
            <a:endParaRPr lang="en-US" sz="1150" dirty="0"/>
          </a:p>
        </p:txBody>
      </p:sp>
      <p:sp>
        <p:nvSpPr>
          <p:cNvPr id="10" name="Shape 7"/>
          <p:cNvSpPr/>
          <p:nvPr/>
        </p:nvSpPr>
        <p:spPr>
          <a:xfrm>
            <a:off x="3931920" y="3977640"/>
            <a:ext cx="1645920" cy="384048"/>
          </a:xfrm>
          <a:prstGeom prst="roundRect">
            <a:avLst>
              <a:gd name="adj" fmla="val 23810"/>
            </a:avLst>
          </a:prstGeom>
          <a:solidFill>
            <a:srgbClr val="0B0B33"/>
          </a:solidFill>
          <a:ln w="12700">
            <a:solidFill>
              <a:srgbClr val="0B0B33"/>
            </a:solidFill>
            <a:prstDash val="solid"/>
          </a:ln>
        </p:spPr>
      </p:sp>
      <p:sp>
        <p:nvSpPr>
          <p:cNvPr id="11" name="Text 8">
            <a:hlinkClick r:id="rId6" tooltip="https://l1yac.github.io/mapealo/app/"/>
          </p:cNvPr>
          <p:cNvSpPr txBox="1"/>
          <p:nvPr/>
        </p:nvSpPr>
        <p:spPr>
          <a:xfrm>
            <a:off x="3931920" y="3977640"/>
            <a:ext cx="1645920" cy="384048"/>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6" invalidUrl="" action="" tgtFrame="" tooltip="https://l1yac.github.io/mapealo/app/" history="1" highlightClick="0" endSnd="0">
                  <a:extLst>
                    <a:ext uri="{A12FA001-AC4F-418D-AE19-62706E023703}">
                      <ahyp:hlinkClr xmlns:ahyp="http://schemas.microsoft.com/office/drawing/2018/hyperlinkcolor" val="tx"/>
                    </a:ext>
                  </a:extLst>
                </a:hlinkClick>
              </a:rPr>
              <a:t>Repositorio ↗</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Mapealo · Demo</dc:title>
  <dc:subject>PptxGenJS Presentation</dc:subject>
  <dc:creator>Mapealo</dc:creator>
  <cp:lastModifiedBy>Mapealo</cp:lastModifiedBy>
  <cp:revision>1</cp:revision>
  <dcterms:created xsi:type="dcterms:W3CDTF">2026-09-17T22:55:21Z</dcterms:created>
  <dcterms:modified xsi:type="dcterms:W3CDTF">2026-09-17T22:55:21Z</dcterms:modified>
</cp:coreProperties>
</file>